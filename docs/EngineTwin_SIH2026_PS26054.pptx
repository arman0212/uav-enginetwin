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D6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10896"/>
          </a:xfrm>
          <a:prstGeom prst="rect">
            <a:avLst/>
          </a:prstGeom>
          <a:noFill/>
        </p:spPr>
        <p:txBody>
          <a:bodyPr wrap="square" anchor="t" lIns="0" rIns="0" tIns="0" bIns="0">
            <a:spAutoFit/>
          </a:bodyPr>
          <a:lstStyle/>
          <a:p>
            <a:pPr algn="l">
              <a:lnSpc>
                <a:spcPct val="115000"/>
              </a:lnSpc>
              <a:spcAft>
                <a:spcPts val="0"/>
              </a:spcAft>
            </a:pPr>
            <a:r>
              <a:rPr sz="1300" b="1">
                <a:solidFill>
                  <a:srgbClr val="1D6FA3"/>
                </a:solidFill>
                <a:latin typeface="Segoe UI"/>
              </a:rPr>
              <a:t>01</a:t>
            </a:r>
          </a:p>
        </p:txBody>
      </p:sp>
      <p:sp>
        <p:nvSpPr>
          <p:cNvPr id="4" name="TextBox 3"/>
          <p:cNvSpPr txBox="1"/>
          <p:nvPr/>
        </p:nvSpPr>
        <p:spPr>
          <a:xfrm>
            <a:off x="566928" y="676656"/>
            <a:ext cx="11057839" cy="566928"/>
          </a:xfrm>
          <a:prstGeom prst="rect">
            <a:avLst/>
          </a:prstGeom>
          <a:noFill/>
        </p:spPr>
        <p:txBody>
          <a:bodyPr wrap="square" anchor="t" lIns="0" rIns="0" tIns="0" bIns="0">
            <a:spAutoFit/>
          </a:bodyPr>
          <a:lstStyle/>
          <a:p>
            <a:pPr algn="l">
              <a:lnSpc>
                <a:spcPct val="115000"/>
              </a:lnSpc>
              <a:spcAft>
                <a:spcPts val="0"/>
              </a:spcAft>
            </a:pPr>
            <a:r>
              <a:rPr sz="3100" b="1">
                <a:solidFill>
                  <a:srgbClr val="10243E"/>
                </a:solidFill>
                <a:latin typeface="Segoe UI"/>
              </a:rPr>
              <a:t>Proposed Solution</a:t>
            </a:r>
          </a:p>
        </p:txBody>
      </p:sp>
      <p:sp>
        <p:nvSpPr>
          <p:cNvPr id="5" name="TextBox 4"/>
          <p:cNvSpPr txBox="1"/>
          <p:nvPr/>
        </p:nvSpPr>
        <p:spPr>
          <a:xfrm>
            <a:off x="566928" y="1243584"/>
            <a:ext cx="11057839" cy="384048"/>
          </a:xfrm>
          <a:prstGeom prst="rect">
            <a:avLst/>
          </a:prstGeom>
          <a:noFill/>
        </p:spPr>
        <p:txBody>
          <a:bodyPr wrap="square" anchor="t" lIns="0" rIns="0" tIns="0" bIns="0">
            <a:spAutoFit/>
          </a:bodyPr>
          <a:lstStyle/>
          <a:p>
            <a:pPr algn="l">
              <a:lnSpc>
                <a:spcPct val="125000"/>
              </a:lnSpc>
              <a:spcAft>
                <a:spcPts val="0"/>
              </a:spcAft>
            </a:pPr>
            <a:r>
              <a:rPr sz="1350" b="0">
                <a:solidFill>
                  <a:srgbClr val="6B7A88"/>
                </a:solidFill>
                <a:latin typeface="Segoe UI"/>
              </a:rPr>
              <a:t>A MALE UAV loiters for 20+ hours beyond line of sight. Nobody can hear the engine. We give the ground station a physics twin that flies alongside the real engine and reports the difference.</a:t>
            </a:r>
          </a:p>
        </p:txBody>
      </p:sp>
      <p:sp>
        <p:nvSpPr>
          <p:cNvPr id="6" name="Rectangle 5"/>
          <p:cNvSpPr/>
          <p:nvPr/>
        </p:nvSpPr>
        <p:spPr>
          <a:xfrm>
            <a:off x="566928" y="1755648"/>
            <a:ext cx="2654731" cy="932688"/>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47088"/>
            <a:ext cx="2416987" cy="182880"/>
          </a:xfrm>
          <a:prstGeom prst="rect">
            <a:avLst/>
          </a:prstGeom>
          <a:noFill/>
        </p:spPr>
        <p:txBody>
          <a:bodyPr wrap="square" anchor="t" lIns="0" rIns="0" tIns="0" bIns="0">
            <a:spAutoFit/>
          </a:bodyPr>
          <a:lstStyle/>
          <a:p>
            <a:pPr algn="l">
              <a:lnSpc>
                <a:spcPct val="115000"/>
              </a:lnSpc>
              <a:spcAft>
                <a:spcPts val="0"/>
              </a:spcAft>
            </a:pPr>
            <a:r>
              <a:rPr sz="800" b="1">
                <a:solidFill>
                  <a:srgbClr val="1D6FA3"/>
                </a:solidFill>
                <a:latin typeface="Segoe UI"/>
              </a:rPr>
              <a:t>STEP 1</a:t>
            </a:r>
          </a:p>
        </p:txBody>
      </p:sp>
      <p:sp>
        <p:nvSpPr>
          <p:cNvPr id="8" name="TextBox 7"/>
          <p:cNvSpPr txBox="1"/>
          <p:nvPr/>
        </p:nvSpPr>
        <p:spPr>
          <a:xfrm>
            <a:off x="685800" y="2039112"/>
            <a:ext cx="2416987" cy="585216"/>
          </a:xfrm>
          <a:prstGeom prst="rect">
            <a:avLst/>
          </a:prstGeom>
          <a:noFill/>
        </p:spPr>
        <p:txBody>
          <a:bodyPr wrap="square" anchor="t" lIns="0" rIns="0" tIns="0" bIns="0">
            <a:spAutoFit/>
          </a:bodyPr>
          <a:lstStyle/>
          <a:p>
            <a:pPr algn="l">
              <a:lnSpc>
                <a:spcPct val="110000"/>
              </a:lnSpc>
              <a:spcAft>
                <a:spcPts val="200"/>
              </a:spcAft>
            </a:pPr>
            <a:r>
              <a:rPr sz="1150" b="1">
                <a:solidFill>
                  <a:srgbClr val="10243E"/>
                </a:solidFill>
                <a:latin typeface="Segoe UI"/>
              </a:rPr>
              <a:t>Model the engine</a:t>
            </a:r>
          </a:p>
          <a:p>
            <a:pPr algn="l">
              <a:lnSpc>
                <a:spcPct val="110000"/>
              </a:lnSpc>
              <a:spcAft>
                <a:spcPts val="0"/>
              </a:spcAft>
            </a:pPr>
            <a:r>
              <a:rPr sz="900" b="0">
                <a:solidFill>
                  <a:srgbClr val="6B7A88"/>
                </a:solidFill>
                <a:latin typeface="Segoe UI"/>
              </a:rPr>
              <a:t>A mean value engine model runs in step with the real one, from the same throttle and altitude.</a:t>
            </a:r>
          </a:p>
        </p:txBody>
      </p:sp>
      <p:sp>
        <p:nvSpPr>
          <p:cNvPr id="9" name="Rectangle 8"/>
          <p:cNvSpPr/>
          <p:nvPr/>
        </p:nvSpPr>
        <p:spPr>
          <a:xfrm>
            <a:off x="3367963" y="1755648"/>
            <a:ext cx="2654731" cy="932688"/>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6835" y="1847088"/>
            <a:ext cx="2416987" cy="182880"/>
          </a:xfrm>
          <a:prstGeom prst="rect">
            <a:avLst/>
          </a:prstGeom>
          <a:noFill/>
        </p:spPr>
        <p:txBody>
          <a:bodyPr wrap="square" anchor="t" lIns="0" rIns="0" tIns="0" bIns="0">
            <a:spAutoFit/>
          </a:bodyPr>
          <a:lstStyle/>
          <a:p>
            <a:pPr algn="l">
              <a:lnSpc>
                <a:spcPct val="115000"/>
              </a:lnSpc>
              <a:spcAft>
                <a:spcPts val="0"/>
              </a:spcAft>
            </a:pPr>
            <a:r>
              <a:rPr sz="800" b="1">
                <a:solidFill>
                  <a:srgbClr val="1D6FA3"/>
                </a:solidFill>
                <a:latin typeface="Segoe UI"/>
              </a:rPr>
              <a:t>STEP 2</a:t>
            </a:r>
          </a:p>
        </p:txBody>
      </p:sp>
      <p:sp>
        <p:nvSpPr>
          <p:cNvPr id="11" name="TextBox 10"/>
          <p:cNvSpPr txBox="1"/>
          <p:nvPr/>
        </p:nvSpPr>
        <p:spPr>
          <a:xfrm>
            <a:off x="3486835" y="2039112"/>
            <a:ext cx="2416987" cy="585216"/>
          </a:xfrm>
          <a:prstGeom prst="rect">
            <a:avLst/>
          </a:prstGeom>
          <a:noFill/>
        </p:spPr>
        <p:txBody>
          <a:bodyPr wrap="square" anchor="t" lIns="0" rIns="0" tIns="0" bIns="0">
            <a:spAutoFit/>
          </a:bodyPr>
          <a:lstStyle/>
          <a:p>
            <a:pPr algn="l">
              <a:lnSpc>
                <a:spcPct val="110000"/>
              </a:lnSpc>
              <a:spcAft>
                <a:spcPts val="200"/>
              </a:spcAft>
            </a:pPr>
            <a:r>
              <a:rPr sz="1150" b="1">
                <a:solidFill>
                  <a:srgbClr val="10243E"/>
                </a:solidFill>
                <a:latin typeface="Segoe UI"/>
              </a:rPr>
              <a:t>Subtract, don't threshold</a:t>
            </a:r>
          </a:p>
          <a:p>
            <a:pPr algn="l">
              <a:lnSpc>
                <a:spcPct val="110000"/>
              </a:lnSpc>
              <a:spcAft>
                <a:spcPts val="0"/>
              </a:spcAft>
            </a:pPr>
            <a:r>
              <a:rPr sz="900" b="0">
                <a:solidFill>
                  <a:srgbClr val="6B7A88"/>
                </a:solidFill>
                <a:latin typeface="Segoe UI"/>
              </a:rPr>
              <a:t>Each channel becomes a residual: measured minus physics-expected, in sigma.</a:t>
            </a:r>
          </a:p>
        </p:txBody>
      </p:sp>
      <p:sp>
        <p:nvSpPr>
          <p:cNvPr id="12" name="Rectangle 11"/>
          <p:cNvSpPr/>
          <p:nvPr/>
        </p:nvSpPr>
        <p:spPr>
          <a:xfrm>
            <a:off x="6168998" y="1755648"/>
            <a:ext cx="2654731" cy="932688"/>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7870" y="1847088"/>
            <a:ext cx="2416987" cy="182880"/>
          </a:xfrm>
          <a:prstGeom prst="rect">
            <a:avLst/>
          </a:prstGeom>
          <a:noFill/>
        </p:spPr>
        <p:txBody>
          <a:bodyPr wrap="square" anchor="t" lIns="0" rIns="0" tIns="0" bIns="0">
            <a:spAutoFit/>
          </a:bodyPr>
          <a:lstStyle/>
          <a:p>
            <a:pPr algn="l">
              <a:lnSpc>
                <a:spcPct val="115000"/>
              </a:lnSpc>
              <a:spcAft>
                <a:spcPts val="0"/>
              </a:spcAft>
            </a:pPr>
            <a:r>
              <a:rPr sz="800" b="1">
                <a:solidFill>
                  <a:srgbClr val="1D6FA3"/>
                </a:solidFill>
                <a:latin typeface="Segoe UI"/>
              </a:rPr>
              <a:t>STEP 3</a:t>
            </a:r>
          </a:p>
        </p:txBody>
      </p:sp>
      <p:sp>
        <p:nvSpPr>
          <p:cNvPr id="14" name="TextBox 13"/>
          <p:cNvSpPr txBox="1"/>
          <p:nvPr/>
        </p:nvSpPr>
        <p:spPr>
          <a:xfrm>
            <a:off x="6287870" y="2039112"/>
            <a:ext cx="2416987" cy="585216"/>
          </a:xfrm>
          <a:prstGeom prst="rect">
            <a:avLst/>
          </a:prstGeom>
          <a:noFill/>
        </p:spPr>
        <p:txBody>
          <a:bodyPr wrap="square" anchor="t" lIns="0" rIns="0" tIns="0" bIns="0">
            <a:spAutoFit/>
          </a:bodyPr>
          <a:lstStyle/>
          <a:p>
            <a:pPr algn="l">
              <a:lnSpc>
                <a:spcPct val="110000"/>
              </a:lnSpc>
              <a:spcAft>
                <a:spcPts val="200"/>
              </a:spcAft>
            </a:pPr>
            <a:r>
              <a:rPr sz="1150" b="1">
                <a:solidFill>
                  <a:srgbClr val="10243E"/>
                </a:solidFill>
                <a:latin typeface="Segoe UI"/>
              </a:rPr>
              <a:t>Two-stage diagnosis</a:t>
            </a:r>
          </a:p>
          <a:p>
            <a:pPr algn="l">
              <a:lnSpc>
                <a:spcPct val="110000"/>
              </a:lnSpc>
              <a:spcAft>
                <a:spcPts val="0"/>
              </a:spcAft>
            </a:pPr>
            <a:r>
              <a:rPr sz="900" b="0">
                <a:solidFill>
                  <a:srgbClr val="6B7A88"/>
                </a:solidFill>
                <a:latin typeface="Segoe UI"/>
              </a:rPr>
              <a:t>An autoencoder gates anomalies; a multi-task network names the fault and its severity.</a:t>
            </a:r>
          </a:p>
        </p:txBody>
      </p:sp>
      <p:sp>
        <p:nvSpPr>
          <p:cNvPr id="15" name="Rectangle 14"/>
          <p:cNvSpPr/>
          <p:nvPr/>
        </p:nvSpPr>
        <p:spPr>
          <a:xfrm>
            <a:off x="8970033" y="1755648"/>
            <a:ext cx="2654731" cy="932688"/>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88905" y="1847088"/>
            <a:ext cx="2416987" cy="182880"/>
          </a:xfrm>
          <a:prstGeom prst="rect">
            <a:avLst/>
          </a:prstGeom>
          <a:noFill/>
        </p:spPr>
        <p:txBody>
          <a:bodyPr wrap="square" anchor="t" lIns="0" rIns="0" tIns="0" bIns="0">
            <a:spAutoFit/>
          </a:bodyPr>
          <a:lstStyle/>
          <a:p>
            <a:pPr algn="l">
              <a:lnSpc>
                <a:spcPct val="115000"/>
              </a:lnSpc>
              <a:spcAft>
                <a:spcPts val="0"/>
              </a:spcAft>
            </a:pPr>
            <a:r>
              <a:rPr sz="800" b="1">
                <a:solidFill>
                  <a:srgbClr val="1D6FA3"/>
                </a:solidFill>
                <a:latin typeface="Segoe UI"/>
              </a:rPr>
              <a:t>STEP 4</a:t>
            </a:r>
          </a:p>
        </p:txBody>
      </p:sp>
      <p:sp>
        <p:nvSpPr>
          <p:cNvPr id="17" name="TextBox 16"/>
          <p:cNvSpPr txBox="1"/>
          <p:nvPr/>
        </p:nvSpPr>
        <p:spPr>
          <a:xfrm>
            <a:off x="9088905" y="2039112"/>
            <a:ext cx="2416987" cy="585216"/>
          </a:xfrm>
          <a:prstGeom prst="rect">
            <a:avLst/>
          </a:prstGeom>
          <a:noFill/>
        </p:spPr>
        <p:txBody>
          <a:bodyPr wrap="square" anchor="t" lIns="0" rIns="0" tIns="0" bIns="0">
            <a:spAutoFit/>
          </a:bodyPr>
          <a:lstStyle/>
          <a:p>
            <a:pPr algn="l">
              <a:lnSpc>
                <a:spcPct val="110000"/>
              </a:lnSpc>
              <a:spcAft>
                <a:spcPts val="200"/>
              </a:spcAft>
            </a:pPr>
            <a:r>
              <a:rPr sz="1150" b="1">
                <a:solidFill>
                  <a:srgbClr val="10243E"/>
                </a:solidFill>
                <a:latin typeface="Segoe UI"/>
              </a:rPr>
              <a:t>Answer, with evidence</a:t>
            </a:r>
          </a:p>
          <a:p>
            <a:pPr algn="l">
              <a:lnSpc>
                <a:spcPct val="110000"/>
              </a:lnSpc>
              <a:spcAft>
                <a:spcPts val="0"/>
              </a:spcAft>
            </a:pPr>
            <a:r>
              <a:rPr sz="900" b="0">
                <a:solidFill>
                  <a:srgbClr val="6B7A88"/>
                </a:solidFill>
                <a:latin typeface="Segoe UI"/>
              </a:rPr>
              <a:t>Fault, confidence, remaining life, the driving channel, and the action to take.</a:t>
            </a:r>
          </a:p>
        </p:txBody>
      </p:sp>
      <p:sp>
        <p:nvSpPr>
          <p:cNvPr id="18" name="TextBox 17"/>
          <p:cNvSpPr txBox="1"/>
          <p:nvPr/>
        </p:nvSpPr>
        <p:spPr>
          <a:xfrm>
            <a:off x="566928" y="2907792"/>
            <a:ext cx="11057839" cy="274320"/>
          </a:xfrm>
          <a:prstGeom prst="rect">
            <a:avLst/>
          </a:prstGeom>
          <a:noFill/>
        </p:spPr>
        <p:txBody>
          <a:bodyPr wrap="square" anchor="t" lIns="0" rIns="0" tIns="0" bIns="0">
            <a:spAutoFit/>
          </a:bodyPr>
          <a:lstStyle/>
          <a:p>
            <a:pPr algn="l">
              <a:lnSpc>
                <a:spcPct val="115000"/>
              </a:lnSpc>
              <a:spcAft>
                <a:spcPts val="0"/>
              </a:spcAft>
            </a:pPr>
            <a:r>
              <a:rPr sz="1300" b="1">
                <a:solidFill>
                  <a:srgbClr val="10243E"/>
                </a:solidFill>
                <a:latin typeface="Segoe UI"/>
              </a:rPr>
              <a:t>The insight that makes it work</a:t>
            </a:r>
          </a:p>
        </p:txBody>
      </p:sp>
      <p:sp>
        <p:nvSpPr>
          <p:cNvPr id="19" name="TextBox 18"/>
          <p:cNvSpPr txBox="1"/>
          <p:nvPr/>
        </p:nvSpPr>
        <p:spPr>
          <a:xfrm>
            <a:off x="566928" y="3200400"/>
            <a:ext cx="5394960" cy="1737360"/>
          </a:xfrm>
          <a:prstGeom prst="rect">
            <a:avLst/>
          </a:prstGeom>
          <a:noFill/>
        </p:spPr>
        <p:txBody>
          <a:bodyPr wrap="square" anchor="t" lIns="0" rIns="0" tIns="0" bIns="0">
            <a:spAutoFit/>
          </a:bodyPr>
          <a:lstStyle/>
          <a:p>
            <a:pPr algn="l">
              <a:lnSpc>
                <a:spcPct val="126000"/>
              </a:lnSpc>
              <a:spcAft>
                <a:spcPts val="0"/>
              </a:spcAft>
            </a:pPr>
            <a:r>
              <a:rPr sz="1150" b="0">
                <a:solidFill>
                  <a:srgbClr val="2C3A47"/>
                </a:solidFill>
                <a:latin typeface="Segoe UI"/>
              </a:rPr>
              <a:t>A raw exhaust temperature of 740 °C means nothing on its own. It is normal at sea level at full power and alarming at 25,000 ft in a descent. A fixed threshold must therefore be set loose enough to avoid false alarms, which makes it slow.
By subtracting what the physics model expects under those exact conditions, the residual is near zero whenever the engine is healthy, at every altitude and power setting. A fault becomes visible as a departure from zero rather than a crossing of a fixed line.</a:t>
            </a:r>
          </a:p>
        </p:txBody>
      </p:sp>
      <p:graphicFrame>
        <p:nvGraphicFramePr>
          <p:cNvPr id="20" name="Table 19"/>
          <p:cNvGraphicFramePr>
            <a:graphicFrameLocks noGrp="1"/>
          </p:cNvGraphicFramePr>
          <p:nvPr/>
        </p:nvGraphicFramePr>
        <p:xfrm>
          <a:off x="6281928" y="3163824"/>
          <a:ext cx="5897880" cy="1883664"/>
        </p:xfrm>
        <a:graphic>
          <a:graphicData uri="http://schemas.openxmlformats.org/drawingml/2006/table">
            <a:tbl>
              <a:tblPr firstRow="1">
                <a:tableStyleId>{5C22544A-7EE6-4342-B048-85BDC9FD1C3A}</a:tableStyleId>
              </a:tblPr>
              <a:tblGrid>
                <a:gridCol w="1965960"/>
                <a:gridCol w="3931920"/>
              </a:tblGrid>
              <a:tr h="329184">
                <a:tc>
                  <a:txBody>
                    <a:bodyPr wrap="square"/>
                    <a:lstStyle/>
                    <a:p>
                      <a:pPr algn="l"/>
                      <a:r>
                        <a:rPr sz="1000" b="1">
                          <a:solidFill>
                            <a:srgbClr val="10243E"/>
                          </a:solidFill>
                          <a:latin typeface="Segoe UI"/>
                        </a:rPr>
                        <a:t>Capability</a:t>
                      </a:r>
                    </a:p>
                  </a:txBody>
                  <a:tcPr marL="82296" marR="82296" marT="27432" marB="27432" anchor="ctr">
                    <a:solidFill>
                      <a:srgbClr val="E8EEF4"/>
                    </a:solidFill>
                  </a:tcPr>
                </a:tc>
                <a:tc>
                  <a:txBody>
                    <a:bodyPr wrap="square"/>
                    <a:lstStyle/>
                    <a:p>
                      <a:pPr algn="l"/>
                      <a:r>
                        <a:rPr sz="1000" b="1">
                          <a:solidFill>
                            <a:srgbClr val="10243E"/>
                          </a:solidFill>
                          <a:latin typeface="Segoe UI"/>
                        </a:rPr>
                        <a:t>What the operator gets</a:t>
                      </a:r>
                    </a:p>
                  </a:txBody>
                  <a:tcPr marL="82296" marR="82296" marT="27432" marB="27432" anchor="ctr">
                    <a:solidFill>
                      <a:srgbClr val="E8EEF4"/>
                    </a:solidFill>
                  </a:tcPr>
                </a:tc>
              </a:tr>
              <a:tr h="310896">
                <a:tc>
                  <a:txBody>
                    <a:bodyPr wrap="square"/>
                    <a:lstStyle/>
                    <a:p>
                      <a:pPr algn="l"/>
                      <a:r>
                        <a:rPr sz="1050" b="0">
                          <a:solidFill>
                            <a:srgbClr val="2C3A47"/>
                          </a:solidFill>
                          <a:latin typeface="Segoe UI"/>
                        </a:rPr>
                        <a:t>Health monitoring</a:t>
                      </a:r>
                    </a:p>
                  </a:txBody>
                  <a:tcPr marL="82296" marR="82296" marT="27432" marB="27432" anchor="ctr">
                    <a:solidFill>
                      <a:srgbClr val="FFFFFF"/>
                    </a:solidFill>
                  </a:tcPr>
                </a:tc>
                <a:tc>
                  <a:txBody>
                    <a:bodyPr wrap="square"/>
                    <a:lstStyle/>
                    <a:p>
                      <a:pPr algn="l"/>
                      <a:r>
                        <a:rPr sz="1050" b="0">
                          <a:solidFill>
                            <a:srgbClr val="2C3A47"/>
                          </a:solidFill>
                          <a:latin typeface="Segoe UI"/>
                        </a:rPr>
                        <a:t>15 residual channels at 20 Hz, per cylinder</a:t>
                      </a:r>
                    </a:p>
                  </a:txBody>
                  <a:tcPr marL="82296" marR="82296" marT="27432" marB="27432" anchor="ctr">
                    <a:solidFill>
                      <a:srgbClr val="FFFFFF"/>
                    </a:solidFill>
                  </a:tcPr>
                </a:tc>
              </a:tr>
              <a:tr h="310896">
                <a:tc>
                  <a:txBody>
                    <a:bodyPr wrap="square"/>
                    <a:lstStyle/>
                    <a:p>
                      <a:pPr algn="l"/>
                      <a:r>
                        <a:rPr sz="1050" b="0">
                          <a:solidFill>
                            <a:srgbClr val="2C3A47"/>
                          </a:solidFill>
                          <a:latin typeface="Segoe UI"/>
                        </a:rPr>
                        <a:t>Fault prediction</a:t>
                      </a:r>
                    </a:p>
                  </a:txBody>
                  <a:tcPr marL="82296" marR="82296" marT="27432" marB="27432" anchor="ctr">
                    <a:solidFill>
                      <a:srgbClr val="FFFFFF"/>
                    </a:solidFill>
                  </a:tcPr>
                </a:tc>
                <a:tc>
                  <a:txBody>
                    <a:bodyPr wrap="square"/>
                    <a:lstStyle/>
                    <a:p>
                      <a:pPr algn="l"/>
                      <a:r>
                        <a:rPr sz="1050" b="0">
                          <a:solidFill>
                            <a:srgbClr val="2C3A47"/>
                          </a:solidFill>
                          <a:latin typeface="Segoe UI"/>
                        </a:rPr>
                        <a:t>9 fault modes named, with severity and confidence</a:t>
                      </a:r>
                    </a:p>
                  </a:txBody>
                  <a:tcPr marL="82296" marR="82296" marT="27432" marB="27432" anchor="ctr">
                    <a:solidFill>
                      <a:srgbClr val="FFFFFF"/>
                    </a:solidFill>
                  </a:tcPr>
                </a:tc>
              </a:tr>
              <a:tr h="310896">
                <a:tc>
                  <a:txBody>
                    <a:bodyPr wrap="square"/>
                    <a:lstStyle/>
                    <a:p>
                      <a:pPr algn="l"/>
                      <a:r>
                        <a:rPr sz="1050" b="0">
                          <a:solidFill>
                            <a:srgbClr val="2C3A47"/>
                          </a:solidFill>
                          <a:latin typeface="Segoe UI"/>
                        </a:rPr>
                        <a:t>Sensor integrity</a:t>
                      </a:r>
                    </a:p>
                  </a:txBody>
                  <a:tcPr marL="82296" marR="82296" marT="27432" marB="27432" anchor="ctr">
                    <a:solidFill>
                      <a:srgbClr val="FFFFFF"/>
                    </a:solidFill>
                  </a:tcPr>
                </a:tc>
                <a:tc>
                  <a:txBody>
                    <a:bodyPr wrap="square"/>
                    <a:lstStyle/>
                    <a:p>
                      <a:pPr algn="l"/>
                      <a:r>
                        <a:rPr sz="1050" b="0">
                          <a:solidFill>
                            <a:srgbClr val="2C3A47"/>
                          </a:solidFill>
                          <a:latin typeface="Segoe UI"/>
                        </a:rPr>
                        <a:t>A failed probe is separated from a failed cylinder</a:t>
                      </a:r>
                    </a:p>
                  </a:txBody>
                  <a:tcPr marL="82296" marR="82296" marT="27432" marB="27432" anchor="ctr">
                    <a:solidFill>
                      <a:srgbClr val="FFFFFF"/>
                    </a:solidFill>
                  </a:tcPr>
                </a:tc>
              </a:tr>
              <a:tr h="310896">
                <a:tc>
                  <a:txBody>
                    <a:bodyPr wrap="square"/>
                    <a:lstStyle/>
                    <a:p>
                      <a:pPr algn="l"/>
                      <a:r>
                        <a:rPr sz="1050" b="0">
                          <a:solidFill>
                            <a:srgbClr val="2C3A47"/>
                          </a:solidFill>
                          <a:latin typeface="Segoe UI"/>
                        </a:rPr>
                        <a:t>Mission reliability</a:t>
                      </a:r>
                    </a:p>
                  </a:txBody>
                  <a:tcPr marL="82296" marR="82296" marT="27432" marB="27432" anchor="ctr">
                    <a:solidFill>
                      <a:srgbClr val="FFFFFF"/>
                    </a:solidFill>
                  </a:tcPr>
                </a:tc>
                <a:tc>
                  <a:txBody>
                    <a:bodyPr wrap="square"/>
                    <a:lstStyle/>
                    <a:p>
                      <a:pPr algn="l"/>
                      <a:r>
                        <a:rPr sz="1050" b="0">
                          <a:solidFill>
                            <a:srgbClr val="2C3A47"/>
                          </a:solidFill>
                          <a:latin typeface="Segoe UI"/>
                        </a:rPr>
                        <a:t>Remaining useful life and a recommended action</a:t>
                      </a:r>
                    </a:p>
                  </a:txBody>
                  <a:tcPr marL="82296" marR="82296" marT="27432" marB="27432" anchor="ctr">
                    <a:solidFill>
                      <a:srgbClr val="FFFFFF"/>
                    </a:solidFill>
                  </a:tcPr>
                </a:tc>
              </a:tr>
              <a:tr h="310896">
                <a:tc>
                  <a:txBody>
                    <a:bodyPr wrap="square"/>
                    <a:lstStyle/>
                    <a:p>
                      <a:pPr algn="l"/>
                      <a:r>
                        <a:rPr sz="1050" b="0">
                          <a:solidFill>
                            <a:srgbClr val="2C3A47"/>
                          </a:solidFill>
                          <a:latin typeface="Segoe UI"/>
                        </a:rPr>
                        <a:t>Any powerplant</a:t>
                      </a:r>
                    </a:p>
                  </a:txBody>
                  <a:tcPr marL="82296" marR="82296" marT="27432" marB="27432" anchor="ctr">
                    <a:solidFill>
                      <a:srgbClr val="FFFFFF"/>
                    </a:solidFill>
                  </a:tcPr>
                </a:tc>
                <a:tc>
                  <a:txBody>
                    <a:bodyPr wrap="square"/>
                    <a:lstStyle/>
                    <a:p>
                      <a:pPr algn="l"/>
                      <a:r>
                        <a:rPr sz="1050" b="0">
                          <a:solidFill>
                            <a:srgbClr val="2C3A47"/>
                          </a:solidFill>
                          <a:latin typeface="Segoe UI"/>
                        </a:rPr>
                        <a:t>10 engines shipped; an operator can define their own</a:t>
                      </a:r>
                    </a:p>
                  </a:txBody>
                  <a:tcPr marL="82296" marR="82296" marT="27432" marB="27432" anchor="ctr">
                    <a:solidFill>
                      <a:srgbClr val="FFFFFF"/>
                    </a:solidFill>
                  </a:tcPr>
                </a:tc>
              </a:tr>
            </a:tbl>
          </a:graphicData>
        </a:graphic>
      </p:graphicFrame>
      <p:sp>
        <p:nvSpPr>
          <p:cNvPr id="21" name="Rectangle 20"/>
          <p:cNvSpPr/>
          <p:nvPr/>
        </p:nvSpPr>
        <p:spPr>
          <a:xfrm>
            <a:off x="566928" y="6327648"/>
            <a:ext cx="11057839" cy="9525"/>
          </a:xfrm>
          <a:prstGeom prst="rect">
            <a:avLst/>
          </a:prstGeom>
          <a:solidFill>
            <a:srgbClr val="D5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19088"/>
            <a:ext cx="8229600" cy="256032"/>
          </a:xfrm>
          <a:prstGeom prst="rect">
            <a:avLst/>
          </a:prstGeom>
          <a:noFill/>
        </p:spPr>
        <p:txBody>
          <a:bodyPr wrap="square" anchor="t" lIns="0" rIns="0" tIns="0" bIns="0">
            <a:spAutoFit/>
          </a:bodyPr>
          <a:lstStyle/>
          <a:p>
            <a:pPr algn="l">
              <a:lnSpc>
                <a:spcPct val="115000"/>
              </a:lnSpc>
              <a:spcAft>
                <a:spcPts val="0"/>
              </a:spcAft>
            </a:pPr>
            <a:r>
              <a:rPr sz="900" b="0">
                <a:solidFill>
                  <a:srgbClr val="6B7A88"/>
                </a:solidFill>
                <a:latin typeface="Segoe UI"/>
              </a:rPr>
              <a:t>EngineTwin  ·  SIH 2026  ·  PS 26054  ·  DRDO  ·  AI-Enabled Real-Time Digital Twin for Aero Piston Engines in MALE UAVs</a:t>
            </a:r>
          </a:p>
        </p:txBody>
      </p:sp>
      <p:sp>
        <p:nvSpPr>
          <p:cNvPr id="23" name="TextBox 22"/>
          <p:cNvSpPr txBox="1"/>
          <p:nvPr/>
        </p:nvSpPr>
        <p:spPr>
          <a:xfrm>
            <a:off x="10984687" y="6419088"/>
            <a:ext cx="640080" cy="256032"/>
          </a:xfrm>
          <a:prstGeom prst="rect">
            <a:avLst/>
          </a:prstGeom>
          <a:noFill/>
        </p:spPr>
        <p:txBody>
          <a:bodyPr wrap="square" anchor="t" lIns="0" rIns="0" tIns="0" bIns="0">
            <a:spAutoFit/>
          </a:bodyPr>
          <a:lstStyle/>
          <a:p>
            <a:pPr algn="r">
              <a:lnSpc>
                <a:spcPct val="115000"/>
              </a:lnSpc>
              <a:spcAft>
                <a:spcPts val="0"/>
              </a:spcAft>
            </a:pPr>
            <a:r>
              <a:rPr sz="900" b="1">
                <a:solidFill>
                  <a:srgbClr val="1D6FA3"/>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D6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10896"/>
          </a:xfrm>
          <a:prstGeom prst="rect">
            <a:avLst/>
          </a:prstGeom>
          <a:noFill/>
        </p:spPr>
        <p:txBody>
          <a:bodyPr wrap="square" anchor="t" lIns="0" rIns="0" tIns="0" bIns="0">
            <a:spAutoFit/>
          </a:bodyPr>
          <a:lstStyle/>
          <a:p>
            <a:pPr algn="l">
              <a:lnSpc>
                <a:spcPct val="115000"/>
              </a:lnSpc>
              <a:spcAft>
                <a:spcPts val="0"/>
              </a:spcAft>
            </a:pPr>
            <a:r>
              <a:rPr sz="1300" b="1">
                <a:solidFill>
                  <a:srgbClr val="1D6FA3"/>
                </a:solidFill>
                <a:latin typeface="Segoe UI"/>
              </a:rPr>
              <a:t>02</a:t>
            </a:r>
          </a:p>
        </p:txBody>
      </p:sp>
      <p:sp>
        <p:nvSpPr>
          <p:cNvPr id="4" name="TextBox 3"/>
          <p:cNvSpPr txBox="1"/>
          <p:nvPr/>
        </p:nvSpPr>
        <p:spPr>
          <a:xfrm>
            <a:off x="566928" y="676656"/>
            <a:ext cx="11057839" cy="566928"/>
          </a:xfrm>
          <a:prstGeom prst="rect">
            <a:avLst/>
          </a:prstGeom>
          <a:noFill/>
        </p:spPr>
        <p:txBody>
          <a:bodyPr wrap="square" anchor="t" lIns="0" rIns="0" tIns="0" bIns="0">
            <a:spAutoFit/>
          </a:bodyPr>
          <a:lstStyle/>
          <a:p>
            <a:pPr algn="l">
              <a:lnSpc>
                <a:spcPct val="115000"/>
              </a:lnSpc>
              <a:spcAft>
                <a:spcPts val="0"/>
              </a:spcAft>
            </a:pPr>
            <a:r>
              <a:rPr sz="3100" b="1">
                <a:solidFill>
                  <a:srgbClr val="10243E"/>
                </a:solidFill>
                <a:latin typeface="Segoe UI"/>
              </a:rPr>
              <a:t>Technical Approach</a:t>
            </a:r>
          </a:p>
        </p:txBody>
      </p:sp>
      <p:sp>
        <p:nvSpPr>
          <p:cNvPr id="5" name="TextBox 4"/>
          <p:cNvSpPr txBox="1"/>
          <p:nvPr/>
        </p:nvSpPr>
        <p:spPr>
          <a:xfrm>
            <a:off x="566928" y="1243584"/>
            <a:ext cx="11057839" cy="384048"/>
          </a:xfrm>
          <a:prstGeom prst="rect">
            <a:avLst/>
          </a:prstGeom>
          <a:noFill/>
        </p:spPr>
        <p:txBody>
          <a:bodyPr wrap="square" anchor="t" lIns="0" rIns="0" tIns="0" bIns="0">
            <a:spAutoFit/>
          </a:bodyPr>
          <a:lstStyle/>
          <a:p>
            <a:pPr algn="l">
              <a:lnSpc>
                <a:spcPct val="125000"/>
              </a:lnSpc>
              <a:spcAft>
                <a:spcPts val="0"/>
              </a:spcAft>
            </a:pPr>
            <a:r>
              <a:rPr sz="1350" b="0">
                <a:solidFill>
                  <a:srgbClr val="6B7A88"/>
                </a:solidFill>
                <a:latin typeface="Segoe UI"/>
              </a:rPr>
              <a:t>Five models in one pipeline. The physics layer is what lets the learned layers stay small, fast and explainable enough to run on flight hardware.</a:t>
            </a:r>
          </a:p>
        </p:txBody>
      </p:sp>
      <p:graphicFrame>
        <p:nvGraphicFramePr>
          <p:cNvPr id="6" name="Table 5"/>
          <p:cNvGraphicFramePr>
            <a:graphicFrameLocks noGrp="1"/>
          </p:cNvGraphicFramePr>
          <p:nvPr/>
        </p:nvGraphicFramePr>
        <p:xfrm>
          <a:off x="566928" y="1719072"/>
          <a:ext cx="11064240" cy="3694176"/>
        </p:xfrm>
        <a:graphic>
          <a:graphicData uri="http://schemas.openxmlformats.org/drawingml/2006/table">
            <a:tbl>
              <a:tblPr firstRow="1">
                <a:tableStyleId>{5C22544A-7EE6-4342-B048-85BDC9FD1C3A}</a:tableStyleId>
              </a:tblPr>
              <a:tblGrid>
                <a:gridCol w="1170432"/>
                <a:gridCol w="2395728"/>
                <a:gridCol w="3886200"/>
                <a:gridCol w="3611880"/>
              </a:tblGrid>
              <a:tr h="292608">
                <a:tc>
                  <a:txBody>
                    <a:bodyPr wrap="square"/>
                    <a:lstStyle/>
                    <a:p>
                      <a:pPr algn="l"/>
                      <a:r>
                        <a:rPr sz="950" b="1">
                          <a:solidFill>
                            <a:srgbClr val="10243E"/>
                          </a:solidFill>
                          <a:latin typeface="Segoe UI"/>
                        </a:rPr>
                        <a:t>Stage</a:t>
                      </a:r>
                    </a:p>
                  </a:txBody>
                  <a:tcPr marL="82296" marR="82296" marT="27432" marB="27432" anchor="ctr">
                    <a:solidFill>
                      <a:srgbClr val="E8EEF4"/>
                    </a:solidFill>
                  </a:tcPr>
                </a:tc>
                <a:tc>
                  <a:txBody>
                    <a:bodyPr wrap="square"/>
                    <a:lstStyle/>
                    <a:p>
                      <a:pPr algn="l"/>
                      <a:r>
                        <a:rPr sz="950" b="1">
                          <a:solidFill>
                            <a:srgbClr val="10243E"/>
                          </a:solidFill>
                          <a:latin typeface="Segoe UI"/>
                        </a:rPr>
                        <a:t>Model</a:t>
                      </a:r>
                    </a:p>
                  </a:txBody>
                  <a:tcPr marL="82296" marR="82296" marT="27432" marB="27432" anchor="ctr">
                    <a:solidFill>
                      <a:srgbClr val="E8EEF4"/>
                    </a:solidFill>
                  </a:tcPr>
                </a:tc>
                <a:tc>
                  <a:txBody>
                    <a:bodyPr wrap="square"/>
                    <a:lstStyle/>
                    <a:p>
                      <a:pPr algn="l"/>
                      <a:r>
                        <a:rPr sz="950" b="1">
                          <a:solidFill>
                            <a:srgbClr val="10243E"/>
                          </a:solidFill>
                          <a:latin typeface="Segoe UI"/>
                        </a:rPr>
                        <a:t>What it does</a:t>
                      </a:r>
                    </a:p>
                  </a:txBody>
                  <a:tcPr marL="82296" marR="82296" marT="27432" marB="27432" anchor="ctr">
                    <a:solidFill>
                      <a:srgbClr val="E8EEF4"/>
                    </a:solidFill>
                  </a:tcPr>
                </a:tc>
                <a:tc>
                  <a:txBody>
                    <a:bodyPr wrap="square"/>
                    <a:lstStyle/>
                    <a:p>
                      <a:pPr algn="l"/>
                      <a:r>
                        <a:rPr sz="950" b="1">
                          <a:solidFill>
                            <a:srgbClr val="10243E"/>
                          </a:solidFill>
                          <a:latin typeface="Segoe UI"/>
                        </a:rPr>
                        <a:t>Why this choice</a:t>
                      </a:r>
                    </a:p>
                  </a:txBody>
                  <a:tcPr marL="82296" marR="82296" marT="27432" marB="27432" anchor="ctr">
                    <a:solidFill>
                      <a:srgbClr val="E8EEF4"/>
                    </a:solidFill>
                  </a:tcPr>
                </a:tc>
              </a:tr>
              <a:tr h="566928">
                <a:tc>
                  <a:txBody>
                    <a:bodyPr wrap="square"/>
                    <a:lstStyle/>
                    <a:p>
                      <a:pPr algn="l"/>
                      <a:r>
                        <a:rPr sz="950" b="0">
                          <a:solidFill>
                            <a:srgbClr val="2C3A47"/>
                          </a:solidFill>
                          <a:latin typeface="Segoe UI"/>
                        </a:rPr>
                        <a:t>Plant</a:t>
                      </a:r>
                    </a:p>
                  </a:txBody>
                  <a:tcPr marL="82296" marR="82296" marT="27432" marB="27432" anchor="ctr">
                    <a:solidFill>
                      <a:srgbClr val="FFFFFF"/>
                    </a:solidFill>
                  </a:tcPr>
                </a:tc>
                <a:tc>
                  <a:txBody>
                    <a:bodyPr wrap="square"/>
                    <a:lstStyle/>
                    <a:p>
                      <a:pPr algn="l"/>
                      <a:r>
                        <a:rPr sz="950" b="0">
                          <a:solidFill>
                            <a:srgbClr val="2C3A47"/>
                          </a:solidFill>
                          <a:latin typeface="Segoe UI"/>
                        </a:rPr>
                        <a:t>Mean Value Engine Model</a:t>
                      </a:r>
                    </a:p>
                  </a:txBody>
                  <a:tcPr marL="82296" marR="82296" marT="27432" marB="27432" anchor="ctr">
                    <a:solidFill>
                      <a:srgbClr val="FFFFFF"/>
                    </a:solidFill>
                  </a:tcPr>
                </a:tc>
                <a:tc>
                  <a:txBody>
                    <a:bodyPr wrap="square"/>
                    <a:lstStyle/>
                    <a:p>
                      <a:pPr algn="l"/>
                      <a:r>
                        <a:rPr sz="950" b="0">
                          <a:solidFill>
                            <a:srgbClr val="2C3A47"/>
                          </a:solidFill>
                          <a:latin typeface="Segoe UI"/>
                        </a:rPr>
                        <a:t>Manifold filling, turbo boost and altitude derating, crankshaft torque balance, per-cylinder thermal states, oil circuit</a:t>
                      </a:r>
                    </a:p>
                  </a:txBody>
                  <a:tcPr marL="82296" marR="82296" marT="27432" marB="27432" anchor="ctr">
                    <a:solidFill>
                      <a:srgbClr val="FFFFFF"/>
                    </a:solidFill>
                  </a:tcPr>
                </a:tc>
                <a:tc>
                  <a:txBody>
                    <a:bodyPr wrap="square"/>
                    <a:lstStyle/>
                    <a:p>
                      <a:pPr algn="l"/>
                      <a:r>
                        <a:rPr sz="950" b="0">
                          <a:solidFill>
                            <a:srgbClr val="2C3A47"/>
                          </a:solidFill>
                          <a:latin typeface="Segoe UI"/>
                        </a:rPr>
                        <a:t>Gives an expected value for every channel under the current condition</a:t>
                      </a:r>
                    </a:p>
                  </a:txBody>
                  <a:tcPr marL="82296" marR="82296" marT="27432" marB="27432" anchor="ctr">
                    <a:solidFill>
                      <a:srgbClr val="FFFFFF"/>
                    </a:solidFill>
                  </a:tcPr>
                </a:tc>
              </a:tr>
              <a:tr h="566928">
                <a:tc>
                  <a:txBody>
                    <a:bodyPr wrap="square"/>
                    <a:lstStyle/>
                    <a:p>
                      <a:pPr algn="l"/>
                      <a:r>
                        <a:rPr sz="950" b="0">
                          <a:solidFill>
                            <a:srgbClr val="2C3A47"/>
                          </a:solidFill>
                          <a:latin typeface="Segoe UI"/>
                        </a:rPr>
                        <a:t>Estimation</a:t>
                      </a:r>
                    </a:p>
                  </a:txBody>
                  <a:tcPr marL="82296" marR="82296" marT="27432" marB="27432" anchor="ctr">
                    <a:solidFill>
                      <a:srgbClr val="FFFFFF"/>
                    </a:solidFill>
                  </a:tcPr>
                </a:tc>
                <a:tc>
                  <a:txBody>
                    <a:bodyPr wrap="square"/>
                    <a:lstStyle/>
                    <a:p>
                      <a:pPr algn="l"/>
                      <a:r>
                        <a:rPr sz="950" b="0">
                          <a:solidFill>
                            <a:srgbClr val="2C3A47"/>
                          </a:solidFill>
                          <a:latin typeface="Segoe UI"/>
                        </a:rPr>
                        <a:t>Physics-anchored Kalman estimator, 12 states</a:t>
                      </a:r>
                    </a:p>
                  </a:txBody>
                  <a:tcPr marL="82296" marR="82296" marT="27432" marB="27432" anchor="ctr">
                    <a:solidFill>
                      <a:srgbClr val="FFFFFF"/>
                    </a:solidFill>
                  </a:tcPr>
                </a:tc>
                <a:tc>
                  <a:txBody>
                    <a:bodyPr wrap="square"/>
                    <a:lstStyle/>
                    <a:p>
                      <a:pPr algn="l"/>
                      <a:r>
                        <a:rPr sz="950" b="0">
                          <a:solidFill>
                            <a:srgbClr val="2C3A47"/>
                          </a:solidFill>
                          <a:latin typeface="Segoe UI"/>
                        </a:rPr>
                        <a:t>Fuses measurement with the physics prediction; coasts on physics alone if the datalink drops</a:t>
                      </a:r>
                    </a:p>
                  </a:txBody>
                  <a:tcPr marL="82296" marR="82296" marT="27432" marB="27432" anchor="ctr">
                    <a:solidFill>
                      <a:srgbClr val="FFFFFF"/>
                    </a:solidFill>
                  </a:tcPr>
                </a:tc>
                <a:tc>
                  <a:txBody>
                    <a:bodyPr wrap="square"/>
                    <a:lstStyle/>
                    <a:p>
                      <a:pPr algn="l"/>
                      <a:r>
                        <a:rPr sz="950" b="0">
                          <a:solidFill>
                            <a:srgbClr val="2C3A47"/>
                          </a:solidFill>
                          <a:latin typeface="Segoe UI"/>
                        </a:rPr>
                        <a:t>Linear, so no Jacobian: the non-linear dynamics are already integrated by the plant</a:t>
                      </a:r>
                    </a:p>
                  </a:txBody>
                  <a:tcPr marL="82296" marR="82296" marT="27432" marB="27432" anchor="ctr">
                    <a:solidFill>
                      <a:srgbClr val="FFFFFF"/>
                    </a:solidFill>
                  </a:tcPr>
                </a:tc>
              </a:tr>
              <a:tr h="566928">
                <a:tc>
                  <a:txBody>
                    <a:bodyPr wrap="square"/>
                    <a:lstStyle/>
                    <a:p>
                      <a:pPr algn="l"/>
                      <a:r>
                        <a:rPr sz="950" b="0">
                          <a:solidFill>
                            <a:srgbClr val="2C3A47"/>
                          </a:solidFill>
                          <a:latin typeface="Segoe UI"/>
                        </a:rPr>
                        <a:t>Gate</a:t>
                      </a:r>
                    </a:p>
                  </a:txBody>
                  <a:tcPr marL="82296" marR="82296" marT="27432" marB="27432" anchor="ctr">
                    <a:solidFill>
                      <a:srgbClr val="FFFFFF"/>
                    </a:solidFill>
                  </a:tcPr>
                </a:tc>
                <a:tc>
                  <a:txBody>
                    <a:bodyPr wrap="square"/>
                    <a:lstStyle/>
                    <a:p>
                      <a:pPr algn="l"/>
                      <a:r>
                        <a:rPr sz="950" b="0">
                          <a:solidFill>
                            <a:srgbClr val="2C3A47"/>
                          </a:solidFill>
                          <a:latin typeface="Segoe UI"/>
                        </a:rPr>
                        <a:t>Undercomplete autoencoder</a:t>
                      </a:r>
                    </a:p>
                  </a:txBody>
                  <a:tcPr marL="82296" marR="82296" marT="27432" marB="27432" anchor="ctr">
                    <a:solidFill>
                      <a:srgbClr val="FFFFFF"/>
                    </a:solidFill>
                  </a:tcPr>
                </a:tc>
                <a:tc>
                  <a:txBody>
                    <a:bodyPr wrap="square"/>
                    <a:lstStyle/>
                    <a:p>
                      <a:pPr algn="l"/>
                      <a:r>
                        <a:rPr sz="950" b="0">
                          <a:solidFill>
                            <a:srgbClr val="2C3A47"/>
                          </a:solidFill>
                          <a:latin typeface="Segoe UI"/>
                        </a:rPr>
                        <a:t>Reconstructs the healthy residual vector; a high reconstruction error flags an anomaly</a:t>
                      </a:r>
                    </a:p>
                  </a:txBody>
                  <a:tcPr marL="82296" marR="82296" marT="27432" marB="27432" anchor="ctr">
                    <a:solidFill>
                      <a:srgbClr val="FFFFFF"/>
                    </a:solidFill>
                  </a:tcPr>
                </a:tc>
                <a:tc>
                  <a:txBody>
                    <a:bodyPr wrap="square"/>
                    <a:lstStyle/>
                    <a:p>
                      <a:pPr algn="l"/>
                      <a:r>
                        <a:rPr sz="950" b="0">
                          <a:solidFill>
                            <a:srgbClr val="2C3A47"/>
                          </a:solidFill>
                          <a:latin typeface="Segoe UI"/>
                        </a:rPr>
                        <a:t>Trained only on healthy data, so it generalises to faults it has never seen</a:t>
                      </a:r>
                    </a:p>
                  </a:txBody>
                  <a:tcPr marL="82296" marR="82296" marT="27432" marB="27432" anchor="ctr">
                    <a:solidFill>
                      <a:srgbClr val="FFFFFF"/>
                    </a:solidFill>
                  </a:tcPr>
                </a:tc>
              </a:tr>
              <a:tr h="566928">
                <a:tc>
                  <a:txBody>
                    <a:bodyPr wrap="square"/>
                    <a:lstStyle/>
                    <a:p>
                      <a:pPr algn="l"/>
                      <a:r>
                        <a:rPr sz="950" b="0">
                          <a:solidFill>
                            <a:srgbClr val="2C3A47"/>
                          </a:solidFill>
                          <a:latin typeface="Segoe UI"/>
                        </a:rPr>
                        <a:t>Diagnosis</a:t>
                      </a:r>
                    </a:p>
                  </a:txBody>
                  <a:tcPr marL="82296" marR="82296" marT="27432" marB="27432" anchor="ctr">
                    <a:solidFill>
                      <a:srgbClr val="FFFFFF"/>
                    </a:solidFill>
                  </a:tcPr>
                </a:tc>
                <a:tc>
                  <a:txBody>
                    <a:bodyPr wrap="square"/>
                    <a:lstStyle/>
                    <a:p>
                      <a:pPr algn="l"/>
                      <a:r>
                        <a:rPr sz="950" b="0">
                          <a:solidFill>
                            <a:srgbClr val="2C3A47"/>
                          </a:solidFill>
                          <a:latin typeface="Segoe UI"/>
                        </a:rPr>
                        <a:t>Multi-task classifier, temperature-scaled</a:t>
                      </a:r>
                    </a:p>
                  </a:txBody>
                  <a:tcPr marL="82296" marR="82296" marT="27432" marB="27432" anchor="ctr">
                    <a:solidFill>
                      <a:srgbClr val="FFFFFF"/>
                    </a:solidFill>
                  </a:tcPr>
                </a:tc>
                <a:tc>
                  <a:txBody>
                    <a:bodyPr wrap="square"/>
                    <a:lstStyle/>
                    <a:p>
                      <a:pPr algn="l"/>
                      <a:r>
                        <a:rPr sz="950" b="0">
                          <a:solidFill>
                            <a:srgbClr val="2C3A47"/>
                          </a:solidFill>
                          <a:latin typeface="Segoe UI"/>
                        </a:rPr>
                        <a:t>Names the fault class, estimates severity, flags sensor-versus-engine</a:t>
                      </a:r>
                    </a:p>
                  </a:txBody>
                  <a:tcPr marL="82296" marR="82296" marT="27432" marB="27432" anchor="ctr">
                    <a:solidFill>
                      <a:srgbClr val="FFFFFF"/>
                    </a:solidFill>
                  </a:tcPr>
                </a:tc>
                <a:tc>
                  <a:txBody>
                    <a:bodyPr wrap="square"/>
                    <a:lstStyle/>
                    <a:p>
                      <a:pPr algn="l"/>
                      <a:r>
                        <a:rPr sz="950" b="0">
                          <a:solidFill>
                            <a:srgbClr val="2C3A47"/>
                          </a:solidFill>
                          <a:latin typeface="Segoe UI"/>
                        </a:rPr>
                        <a:t>Scaling makes the confidence figure honest rather than overconfident</a:t>
                      </a:r>
                    </a:p>
                  </a:txBody>
                  <a:tcPr marL="82296" marR="82296" marT="27432" marB="27432" anchor="ctr">
                    <a:solidFill>
                      <a:srgbClr val="FFFFFF"/>
                    </a:solidFill>
                  </a:tcPr>
                </a:tc>
              </a:tr>
              <a:tr h="566928">
                <a:tc>
                  <a:txBody>
                    <a:bodyPr wrap="square"/>
                    <a:lstStyle/>
                    <a:p>
                      <a:pPr algn="l"/>
                      <a:r>
                        <a:rPr sz="950" b="0">
                          <a:solidFill>
                            <a:srgbClr val="2C3A47"/>
                          </a:solidFill>
                          <a:latin typeface="Segoe UI"/>
                        </a:rPr>
                        <a:t>Prognosis</a:t>
                      </a:r>
                    </a:p>
                  </a:txBody>
                  <a:tcPr marL="82296" marR="82296" marT="27432" marB="27432" anchor="ctr">
                    <a:solidFill>
                      <a:srgbClr val="FFFFFF"/>
                    </a:solidFill>
                  </a:tcPr>
                </a:tc>
                <a:tc>
                  <a:txBody>
                    <a:bodyPr wrap="square"/>
                    <a:lstStyle/>
                    <a:p>
                      <a:pPr algn="l"/>
                      <a:r>
                        <a:rPr sz="950" b="0">
                          <a:solidFill>
                            <a:srgbClr val="2C3A47"/>
                          </a:solidFill>
                          <a:latin typeface="Segoe UI"/>
                        </a:rPr>
                        <a:t>Regime-aware RUL estimator</a:t>
                      </a:r>
                    </a:p>
                  </a:txBody>
                  <a:tcPr marL="82296" marR="82296" marT="27432" marB="27432" anchor="ctr">
                    <a:solidFill>
                      <a:srgbClr val="FFFFFF"/>
                    </a:solidFill>
                  </a:tcPr>
                </a:tc>
                <a:tc>
                  <a:txBody>
                    <a:bodyPr wrap="square"/>
                    <a:lstStyle/>
                    <a:p>
                      <a:pPr algn="l"/>
                      <a:r>
                        <a:rPr sz="950" b="0">
                          <a:solidFill>
                            <a:srgbClr val="2C3A47"/>
                          </a:solidFill>
                          <a:latin typeface="Segoe UI"/>
                        </a:rPr>
                        <a:t>Projects health trend to a limit; reports an interval, not a point</a:t>
                      </a:r>
                    </a:p>
                  </a:txBody>
                  <a:tcPr marL="82296" marR="82296" marT="27432" marB="27432" anchor="ctr">
                    <a:solidFill>
                      <a:srgbClr val="FFFFFF"/>
                    </a:solidFill>
                  </a:tcPr>
                </a:tc>
                <a:tc>
                  <a:txBody>
                    <a:bodyPr wrap="square"/>
                    <a:lstStyle/>
                    <a:p>
                      <a:pPr algn="l"/>
                      <a:r>
                        <a:rPr sz="950" b="0">
                          <a:solidFill>
                            <a:srgbClr val="2C3A47"/>
                          </a:solidFill>
                          <a:latin typeface="Segoe UI"/>
                        </a:rPr>
                        <a:t>Classifies drift as stable, drifting or abrupt before extrapolating</a:t>
                      </a:r>
                    </a:p>
                  </a:txBody>
                  <a:tcPr marL="82296" marR="82296" marT="27432" marB="27432" anchor="ctr">
                    <a:solidFill>
                      <a:srgbClr val="FFFFFF"/>
                    </a:solidFill>
                  </a:tcPr>
                </a:tc>
              </a:tr>
              <a:tr h="566928">
                <a:tc>
                  <a:txBody>
                    <a:bodyPr wrap="square"/>
                    <a:lstStyle/>
                    <a:p>
                      <a:pPr algn="l"/>
                      <a:r>
                        <a:rPr sz="950" b="0">
                          <a:solidFill>
                            <a:srgbClr val="2C3A47"/>
                          </a:solidFill>
                          <a:latin typeface="Segoe UI"/>
                        </a:rPr>
                        <a:t>Explanation</a:t>
                      </a:r>
                    </a:p>
                  </a:txBody>
                  <a:tcPr marL="82296" marR="82296" marT="27432" marB="27432" anchor="ctr">
                    <a:solidFill>
                      <a:srgbClr val="FFFFFF"/>
                    </a:solidFill>
                  </a:tcPr>
                </a:tc>
                <a:tc>
                  <a:txBody>
                    <a:bodyPr wrap="square"/>
                    <a:lstStyle/>
                    <a:p>
                      <a:pPr algn="l"/>
                      <a:r>
                        <a:rPr sz="950" b="0">
                          <a:solidFill>
                            <a:srgbClr val="2C3A47"/>
                          </a:solidFill>
                          <a:latin typeface="Segoe UI"/>
                        </a:rPr>
                        <a:t>Gradient x input attribution</a:t>
                      </a:r>
                    </a:p>
                  </a:txBody>
                  <a:tcPr marL="82296" marR="82296" marT="27432" marB="27432" anchor="ctr">
                    <a:solidFill>
                      <a:srgbClr val="FFFFFF"/>
                    </a:solidFill>
                  </a:tcPr>
                </a:tc>
                <a:tc>
                  <a:txBody>
                    <a:bodyPr wrap="square"/>
                    <a:lstStyle/>
                    <a:p>
                      <a:pPr algn="l"/>
                      <a:r>
                        <a:rPr sz="950" b="0">
                          <a:solidFill>
                            <a:srgbClr val="2C3A47"/>
                          </a:solidFill>
                          <a:latin typeface="Segoe UI"/>
                        </a:rPr>
                        <a:t>Ranks which residual channels drove this decision</a:t>
                      </a:r>
                    </a:p>
                  </a:txBody>
                  <a:tcPr marL="82296" marR="82296" marT="27432" marB="27432" anchor="ctr">
                    <a:solidFill>
                      <a:srgbClr val="FFFFFF"/>
                    </a:solidFill>
                  </a:tcPr>
                </a:tc>
                <a:tc>
                  <a:txBody>
                    <a:bodyPr wrap="square"/>
                    <a:lstStyle/>
                    <a:p>
                      <a:pPr algn="l"/>
                      <a:r>
                        <a:rPr sz="950" b="0">
                          <a:solidFill>
                            <a:srgbClr val="2C3A47"/>
                          </a:solidFill>
                          <a:latin typeface="Segoe UI"/>
                        </a:rPr>
                        <a:t>Exact and costs one backward pass, unlike sampling-based methods</a:t>
                      </a:r>
                    </a:p>
                  </a:txBody>
                  <a:tcPr marL="82296" marR="82296" marT="27432" marB="27432" anchor="ctr">
                    <a:solidFill>
                      <a:srgbClr val="FFFFFF"/>
                    </a:solidFill>
                  </a:tcPr>
                </a:tc>
              </a:tr>
            </a:tbl>
          </a:graphicData>
        </a:graphic>
      </p:graphicFrame>
      <p:sp>
        <p:nvSpPr>
          <p:cNvPr id="7" name="TextBox 6"/>
          <p:cNvSpPr txBox="1"/>
          <p:nvPr/>
        </p:nvSpPr>
        <p:spPr>
          <a:xfrm>
            <a:off x="566928" y="5596128"/>
            <a:ext cx="5577840" cy="658368"/>
          </a:xfrm>
          <a:prstGeom prst="rect">
            <a:avLst/>
          </a:prstGeom>
          <a:noFill/>
        </p:spPr>
        <p:txBody>
          <a:bodyPr wrap="square" anchor="t" lIns="0" rIns="0" tIns="0" bIns="0">
            <a:spAutoFit/>
          </a:bodyPr>
          <a:lstStyle/>
          <a:p>
            <a:pPr algn="l">
              <a:lnSpc>
                <a:spcPct val="120000"/>
              </a:lnSpc>
              <a:spcAft>
                <a:spcPts val="200"/>
              </a:spcAft>
            </a:pPr>
            <a:r>
              <a:rPr sz="1200" b="1">
                <a:solidFill>
                  <a:srgbClr val="10243E"/>
                </a:solidFill>
                <a:latin typeface="Segoe UI"/>
              </a:rPr>
              <a:t>Implementation</a:t>
            </a:r>
          </a:p>
          <a:p>
            <a:pPr algn="l">
              <a:lnSpc>
                <a:spcPct val="120000"/>
              </a:lnSpc>
              <a:spcAft>
                <a:spcPts val="0"/>
              </a:spcAft>
            </a:pPr>
            <a:r>
              <a:rPr sz="1050" b="0">
                <a:solidFill>
                  <a:srgbClr val="2C3A47"/>
                </a:solidFill>
                <a:latin typeface="Segoe UI"/>
              </a:rPr>
              <a:t>Python, FastAPI and WebSocket streaming at 20 Hz, PyTorch for the learned layers, Three.js for the 3D twin. Fully offline: no external service, no CDN, no API key.</a:t>
            </a:r>
          </a:p>
        </p:txBody>
      </p:sp>
      <p:sp>
        <p:nvSpPr>
          <p:cNvPr id="8" name="TextBox 7"/>
          <p:cNvSpPr txBox="1"/>
          <p:nvPr/>
        </p:nvSpPr>
        <p:spPr>
          <a:xfrm>
            <a:off x="6556248" y="5596128"/>
            <a:ext cx="5623560" cy="658368"/>
          </a:xfrm>
          <a:prstGeom prst="rect">
            <a:avLst/>
          </a:prstGeom>
          <a:noFill/>
        </p:spPr>
        <p:txBody>
          <a:bodyPr wrap="square" anchor="t" lIns="0" rIns="0" tIns="0" bIns="0">
            <a:spAutoFit/>
          </a:bodyPr>
          <a:lstStyle/>
          <a:p>
            <a:pPr algn="l">
              <a:lnSpc>
                <a:spcPct val="120000"/>
              </a:lnSpc>
              <a:spcAft>
                <a:spcPts val="200"/>
              </a:spcAft>
            </a:pPr>
            <a:r>
              <a:rPr sz="1200" b="1">
                <a:solidFill>
                  <a:srgbClr val="10243E"/>
                </a:solidFill>
                <a:latin typeface="Segoe UI"/>
              </a:rPr>
              <a:t>Data flow</a:t>
            </a:r>
          </a:p>
          <a:p>
            <a:pPr algn="l">
              <a:lnSpc>
                <a:spcPct val="120000"/>
              </a:lnSpc>
              <a:spcAft>
                <a:spcPts val="0"/>
              </a:spcAft>
            </a:pPr>
            <a:r>
              <a:rPr sz="1050" b="0">
                <a:solidFill>
                  <a:srgbClr val="2C3A47"/>
                </a:solidFill>
                <a:latin typeface="Segoe UI"/>
              </a:rPr>
              <a:t>Engine simulation to telemetry to residuals to diagnosis to frontend state to the 3D model. The visualisation reads the same frame the AI reads, and holds no engine values of its own.</a:t>
            </a:r>
          </a:p>
        </p:txBody>
      </p:sp>
      <p:sp>
        <p:nvSpPr>
          <p:cNvPr id="9" name="Rectangle 8"/>
          <p:cNvSpPr/>
          <p:nvPr/>
        </p:nvSpPr>
        <p:spPr>
          <a:xfrm>
            <a:off x="566928" y="6327648"/>
            <a:ext cx="11057839" cy="9525"/>
          </a:xfrm>
          <a:prstGeom prst="rect">
            <a:avLst/>
          </a:prstGeom>
          <a:solidFill>
            <a:srgbClr val="D5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419088"/>
            <a:ext cx="8229600" cy="256032"/>
          </a:xfrm>
          <a:prstGeom prst="rect">
            <a:avLst/>
          </a:prstGeom>
          <a:noFill/>
        </p:spPr>
        <p:txBody>
          <a:bodyPr wrap="square" anchor="t" lIns="0" rIns="0" tIns="0" bIns="0">
            <a:spAutoFit/>
          </a:bodyPr>
          <a:lstStyle/>
          <a:p>
            <a:pPr algn="l">
              <a:lnSpc>
                <a:spcPct val="115000"/>
              </a:lnSpc>
              <a:spcAft>
                <a:spcPts val="0"/>
              </a:spcAft>
            </a:pPr>
            <a:r>
              <a:rPr sz="900" b="0">
                <a:solidFill>
                  <a:srgbClr val="6B7A88"/>
                </a:solidFill>
                <a:latin typeface="Segoe UI"/>
              </a:rPr>
              <a:t>EngineTwin  ·  SIH 2026  ·  PS 26054  ·  DRDO  ·  AI-Enabled Real-Time Digital Twin for Aero Piston Engines in MALE UAVs</a:t>
            </a:r>
          </a:p>
        </p:txBody>
      </p:sp>
      <p:sp>
        <p:nvSpPr>
          <p:cNvPr id="11" name="TextBox 10"/>
          <p:cNvSpPr txBox="1"/>
          <p:nvPr/>
        </p:nvSpPr>
        <p:spPr>
          <a:xfrm>
            <a:off x="10984687" y="6419088"/>
            <a:ext cx="640080" cy="256032"/>
          </a:xfrm>
          <a:prstGeom prst="rect">
            <a:avLst/>
          </a:prstGeom>
          <a:noFill/>
        </p:spPr>
        <p:txBody>
          <a:bodyPr wrap="square" anchor="t" lIns="0" rIns="0" tIns="0" bIns="0">
            <a:spAutoFit/>
          </a:bodyPr>
          <a:lstStyle/>
          <a:p>
            <a:pPr algn="r">
              <a:lnSpc>
                <a:spcPct val="115000"/>
              </a:lnSpc>
              <a:spcAft>
                <a:spcPts val="0"/>
              </a:spcAft>
            </a:pPr>
            <a:r>
              <a:rPr sz="900" b="1">
                <a:solidFill>
                  <a:srgbClr val="1D6FA3"/>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D6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10896"/>
          </a:xfrm>
          <a:prstGeom prst="rect">
            <a:avLst/>
          </a:prstGeom>
          <a:noFill/>
        </p:spPr>
        <p:txBody>
          <a:bodyPr wrap="square" anchor="t" lIns="0" rIns="0" tIns="0" bIns="0">
            <a:spAutoFit/>
          </a:bodyPr>
          <a:lstStyle/>
          <a:p>
            <a:pPr algn="l">
              <a:lnSpc>
                <a:spcPct val="115000"/>
              </a:lnSpc>
              <a:spcAft>
                <a:spcPts val="0"/>
              </a:spcAft>
            </a:pPr>
            <a:r>
              <a:rPr sz="1300" b="1">
                <a:solidFill>
                  <a:srgbClr val="1D6FA3"/>
                </a:solidFill>
                <a:latin typeface="Segoe UI"/>
              </a:rPr>
              <a:t>03</a:t>
            </a:r>
          </a:p>
        </p:txBody>
      </p:sp>
      <p:sp>
        <p:nvSpPr>
          <p:cNvPr id="4" name="TextBox 3"/>
          <p:cNvSpPr txBox="1"/>
          <p:nvPr/>
        </p:nvSpPr>
        <p:spPr>
          <a:xfrm>
            <a:off x="566928" y="676656"/>
            <a:ext cx="11057839" cy="566928"/>
          </a:xfrm>
          <a:prstGeom prst="rect">
            <a:avLst/>
          </a:prstGeom>
          <a:noFill/>
        </p:spPr>
        <p:txBody>
          <a:bodyPr wrap="square" anchor="t" lIns="0" rIns="0" tIns="0" bIns="0">
            <a:spAutoFit/>
          </a:bodyPr>
          <a:lstStyle/>
          <a:p>
            <a:pPr algn="l">
              <a:lnSpc>
                <a:spcPct val="115000"/>
              </a:lnSpc>
              <a:spcAft>
                <a:spcPts val="0"/>
              </a:spcAft>
            </a:pPr>
            <a:r>
              <a:rPr sz="3100" b="1">
                <a:solidFill>
                  <a:srgbClr val="10243E"/>
                </a:solidFill>
                <a:latin typeface="Segoe UI"/>
              </a:rPr>
              <a:t>Feasibility, Challenges and Risk</a:t>
            </a:r>
          </a:p>
        </p:txBody>
      </p:sp>
      <p:sp>
        <p:nvSpPr>
          <p:cNvPr id="5" name="TextBox 4"/>
          <p:cNvSpPr txBox="1"/>
          <p:nvPr/>
        </p:nvSpPr>
        <p:spPr>
          <a:xfrm>
            <a:off x="566928" y="1243584"/>
            <a:ext cx="11057839" cy="384048"/>
          </a:xfrm>
          <a:prstGeom prst="rect">
            <a:avLst/>
          </a:prstGeom>
          <a:noFill/>
        </p:spPr>
        <p:txBody>
          <a:bodyPr wrap="square" anchor="t" lIns="0" rIns="0" tIns="0" bIns="0">
            <a:spAutoFit/>
          </a:bodyPr>
          <a:lstStyle/>
          <a:p>
            <a:pPr algn="l">
              <a:lnSpc>
                <a:spcPct val="125000"/>
              </a:lnSpc>
              <a:spcAft>
                <a:spcPts val="0"/>
              </a:spcAft>
            </a:pPr>
            <a:r>
              <a:rPr sz="1350" b="0">
                <a:solidFill>
                  <a:srgbClr val="6B7A88"/>
                </a:solidFill>
                <a:latin typeface="Segoe UI"/>
              </a:rPr>
              <a:t>The hard part of this problem is not accuracy on a test set. It is not crying wolf at 25,000 ft, and fitting inside a flight computer's budget.</a:t>
            </a:r>
          </a:p>
        </p:txBody>
      </p:sp>
      <p:sp>
        <p:nvSpPr>
          <p:cNvPr id="6" name="TextBox 5"/>
          <p:cNvSpPr txBox="1"/>
          <p:nvPr/>
        </p:nvSpPr>
        <p:spPr>
          <a:xfrm>
            <a:off x="566928" y="1719072"/>
            <a:ext cx="5532120" cy="256032"/>
          </a:xfrm>
          <a:prstGeom prst="rect">
            <a:avLst/>
          </a:prstGeom>
          <a:noFill/>
        </p:spPr>
        <p:txBody>
          <a:bodyPr wrap="square" anchor="t" lIns="0" rIns="0" tIns="0" bIns="0">
            <a:spAutoFit/>
          </a:bodyPr>
          <a:lstStyle/>
          <a:p>
            <a:pPr algn="l">
              <a:lnSpc>
                <a:spcPct val="115000"/>
              </a:lnSpc>
              <a:spcAft>
                <a:spcPts val="0"/>
              </a:spcAft>
            </a:pPr>
            <a:r>
              <a:rPr sz="1300" b="1">
                <a:solidFill>
                  <a:srgbClr val="10243E"/>
                </a:solidFill>
                <a:latin typeface="Segoe UI"/>
              </a:rPr>
              <a:t>Feasibility</a:t>
            </a:r>
          </a:p>
        </p:txBody>
      </p:sp>
      <p:graphicFrame>
        <p:nvGraphicFramePr>
          <p:cNvPr id="7" name="Table 6"/>
          <p:cNvGraphicFramePr>
            <a:graphicFrameLocks noGrp="1"/>
          </p:cNvGraphicFramePr>
          <p:nvPr/>
        </p:nvGraphicFramePr>
        <p:xfrm>
          <a:off x="566928" y="2011680"/>
          <a:ext cx="5532120" cy="1572768"/>
        </p:xfrm>
        <a:graphic>
          <a:graphicData uri="http://schemas.openxmlformats.org/drawingml/2006/table">
            <a:tbl>
              <a:tblPr firstRow="1">
                <a:tableStyleId>{5C22544A-7EE6-4342-B048-85BDC9FD1C3A}</a:tableStyleId>
              </a:tblPr>
              <a:tblGrid>
                <a:gridCol w="1783080"/>
                <a:gridCol w="1920240"/>
                <a:gridCol w="1828800"/>
              </a:tblGrid>
              <a:tr h="329184">
                <a:tc>
                  <a:txBody>
                    <a:bodyPr wrap="square"/>
                    <a:lstStyle/>
                    <a:p>
                      <a:pPr algn="l"/>
                      <a:r>
                        <a:rPr sz="1000" b="1">
                          <a:solidFill>
                            <a:srgbClr val="10243E"/>
                          </a:solidFill>
                          <a:latin typeface="Segoe UI"/>
                        </a:rPr>
                        <a:t>Constraint</a:t>
                      </a:r>
                    </a:p>
                  </a:txBody>
                  <a:tcPr marL="82296" marR="82296" marT="27432" marB="27432" anchor="ctr">
                    <a:solidFill>
                      <a:srgbClr val="E8EEF4"/>
                    </a:solidFill>
                  </a:tcPr>
                </a:tc>
                <a:tc>
                  <a:txBody>
                    <a:bodyPr wrap="square"/>
                    <a:lstStyle/>
                    <a:p>
                      <a:pPr algn="l"/>
                      <a:r>
                        <a:rPr sz="1000" b="1">
                          <a:solidFill>
                            <a:srgbClr val="10243E"/>
                          </a:solidFill>
                          <a:latin typeface="Segoe UI"/>
                        </a:rPr>
                        <a:t>Requirement</a:t>
                      </a:r>
                    </a:p>
                  </a:txBody>
                  <a:tcPr marL="82296" marR="82296" marT="27432" marB="27432" anchor="ctr">
                    <a:solidFill>
                      <a:srgbClr val="E8EEF4"/>
                    </a:solidFill>
                  </a:tcPr>
                </a:tc>
                <a:tc>
                  <a:txBody>
                    <a:bodyPr wrap="square"/>
                    <a:lstStyle/>
                    <a:p>
                      <a:pPr algn="l"/>
                      <a:r>
                        <a:rPr sz="1000" b="1">
                          <a:solidFill>
                            <a:srgbClr val="10243E"/>
                          </a:solidFill>
                          <a:latin typeface="Segoe UI"/>
                        </a:rPr>
                        <a:t>Measured</a:t>
                      </a:r>
                    </a:p>
                  </a:txBody>
                  <a:tcPr marL="82296" marR="82296" marT="27432" marB="27432" anchor="ctr">
                    <a:solidFill>
                      <a:srgbClr val="E8EEF4"/>
                    </a:solidFill>
                  </a:tcPr>
                </a:tc>
              </a:tr>
              <a:tr h="310896">
                <a:tc>
                  <a:txBody>
                    <a:bodyPr wrap="square"/>
                    <a:lstStyle/>
                    <a:p>
                      <a:pPr algn="l"/>
                      <a:r>
                        <a:rPr sz="1050" b="0">
                          <a:solidFill>
                            <a:srgbClr val="2C3A47"/>
                          </a:solidFill>
                          <a:latin typeface="Segoe UI"/>
                        </a:rPr>
                        <a:t>Inference budget</a:t>
                      </a:r>
                    </a:p>
                  </a:txBody>
                  <a:tcPr marL="82296" marR="82296" marT="27432" marB="27432" anchor="ctr">
                    <a:solidFill>
                      <a:srgbClr val="FFFFFF"/>
                    </a:solidFill>
                  </a:tcPr>
                </a:tc>
                <a:tc>
                  <a:txBody>
                    <a:bodyPr wrap="square"/>
                    <a:lstStyle/>
                    <a:p>
                      <a:pPr algn="l"/>
                      <a:r>
                        <a:rPr sz="1050" b="0">
                          <a:solidFill>
                            <a:srgbClr val="2C3A47"/>
                          </a:solidFill>
                          <a:latin typeface="Segoe UI"/>
                        </a:rPr>
                        <a:t>50 ms at 20 Hz</a:t>
                      </a:r>
                    </a:p>
                  </a:txBody>
                  <a:tcPr marL="82296" marR="82296" marT="27432" marB="27432" anchor="ctr">
                    <a:solidFill>
                      <a:srgbClr val="FFFFFF"/>
                    </a:solidFill>
                  </a:tcPr>
                </a:tc>
                <a:tc>
                  <a:txBody>
                    <a:bodyPr wrap="square"/>
                    <a:lstStyle/>
                    <a:p>
                      <a:pPr algn="r"/>
                      <a:r>
                        <a:rPr sz="1050" b="1">
                          <a:solidFill>
                            <a:srgbClr val="1D6FA3"/>
                          </a:solidFill>
                          <a:latin typeface="Segoe UI"/>
                        </a:rPr>
                        <a:t>0.403 ms</a:t>
                      </a:r>
                    </a:p>
                  </a:txBody>
                  <a:tcPr marL="82296" marR="82296" marT="27432" marB="27432" anchor="ctr">
                    <a:solidFill>
                      <a:srgbClr val="FFFFFF"/>
                    </a:solidFill>
                  </a:tcPr>
                </a:tc>
              </a:tr>
              <a:tr h="310896">
                <a:tc>
                  <a:txBody>
                    <a:bodyPr wrap="square"/>
                    <a:lstStyle/>
                    <a:p>
                      <a:pPr algn="l"/>
                      <a:r>
                        <a:rPr sz="1050" b="0">
                          <a:solidFill>
                            <a:srgbClr val="2C3A47"/>
                          </a:solidFill>
                          <a:latin typeface="Segoe UI"/>
                        </a:rPr>
                        <a:t>Compute</a:t>
                      </a:r>
                    </a:p>
                  </a:txBody>
                  <a:tcPr marL="82296" marR="82296" marT="27432" marB="27432" anchor="ctr">
                    <a:solidFill>
                      <a:srgbClr val="FFFFFF"/>
                    </a:solidFill>
                  </a:tcPr>
                </a:tc>
                <a:tc>
                  <a:txBody>
                    <a:bodyPr wrap="square"/>
                    <a:lstStyle/>
                    <a:p>
                      <a:pPr algn="l"/>
                      <a:r>
                        <a:rPr sz="1050" b="0">
                          <a:solidFill>
                            <a:srgbClr val="2C3A47"/>
                          </a:solidFill>
                          <a:latin typeface="Segoe UI"/>
                        </a:rPr>
                        <a:t>Embedded flight SBC</a:t>
                      </a:r>
                    </a:p>
                  </a:txBody>
                  <a:tcPr marL="82296" marR="82296" marT="27432" marB="27432" anchor="ctr">
                    <a:solidFill>
                      <a:srgbClr val="FFFFFF"/>
                    </a:solidFill>
                  </a:tcPr>
                </a:tc>
                <a:tc>
                  <a:txBody>
                    <a:bodyPr wrap="square"/>
                    <a:lstStyle/>
                    <a:p>
                      <a:pPr algn="l"/>
                      <a:r>
                        <a:rPr sz="1050" b="1">
                          <a:solidFill>
                            <a:srgbClr val="1D6FA3"/>
                          </a:solidFill>
                          <a:latin typeface="Segoe UI"/>
                        </a:rPr>
                        <a:t>Single CPU thread</a:t>
                      </a:r>
                    </a:p>
                  </a:txBody>
                  <a:tcPr marL="82296" marR="82296" marT="27432" marB="27432" anchor="ctr">
                    <a:solidFill>
                      <a:srgbClr val="FFFFFF"/>
                    </a:solidFill>
                  </a:tcPr>
                </a:tc>
              </a:tr>
              <a:tr h="310896">
                <a:tc>
                  <a:txBody>
                    <a:bodyPr wrap="square"/>
                    <a:lstStyle/>
                    <a:p>
                      <a:pPr algn="l"/>
                      <a:r>
                        <a:rPr sz="1050" b="0">
                          <a:solidFill>
                            <a:srgbClr val="2C3A47"/>
                          </a:solidFill>
                          <a:latin typeface="Segoe UI"/>
                        </a:rPr>
                        <a:t>Connectivity</a:t>
                      </a:r>
                    </a:p>
                  </a:txBody>
                  <a:tcPr marL="82296" marR="82296" marT="27432" marB="27432" anchor="ctr">
                    <a:solidFill>
                      <a:srgbClr val="FFFFFF"/>
                    </a:solidFill>
                  </a:tcPr>
                </a:tc>
                <a:tc>
                  <a:txBody>
                    <a:bodyPr wrap="square"/>
                    <a:lstStyle/>
                    <a:p>
                      <a:pPr algn="l"/>
                      <a:r>
                        <a:rPr sz="1050" b="0">
                          <a:solidFill>
                            <a:srgbClr val="2C3A47"/>
                          </a:solidFill>
                          <a:latin typeface="Segoe UI"/>
                        </a:rPr>
                        <a:t>Beyond line of sight</a:t>
                      </a:r>
                    </a:p>
                  </a:txBody>
                  <a:tcPr marL="82296" marR="82296" marT="27432" marB="27432" anchor="ctr">
                    <a:solidFill>
                      <a:srgbClr val="FFFFFF"/>
                    </a:solidFill>
                  </a:tcPr>
                </a:tc>
                <a:tc>
                  <a:txBody>
                    <a:bodyPr wrap="square"/>
                    <a:lstStyle/>
                    <a:p>
                      <a:pPr algn="l"/>
                      <a:r>
                        <a:rPr sz="1050" b="1">
                          <a:solidFill>
                            <a:srgbClr val="1D6FA3"/>
                          </a:solidFill>
                          <a:latin typeface="Segoe UI"/>
                        </a:rPr>
                        <a:t>Runs fully offline</a:t>
                      </a:r>
                    </a:p>
                  </a:txBody>
                  <a:tcPr marL="82296" marR="82296" marT="27432" marB="27432" anchor="ctr">
                    <a:solidFill>
                      <a:srgbClr val="FFFFFF"/>
                    </a:solidFill>
                  </a:tcPr>
                </a:tc>
              </a:tr>
              <a:tr h="310896">
                <a:tc>
                  <a:txBody>
                    <a:bodyPr wrap="square"/>
                    <a:lstStyle/>
                    <a:p>
                      <a:pPr algn="l"/>
                      <a:r>
                        <a:rPr sz="1050" b="0">
                          <a:solidFill>
                            <a:srgbClr val="2C3A47"/>
                          </a:solidFill>
                          <a:latin typeface="Segoe UI"/>
                        </a:rPr>
                        <a:t>Retraining</a:t>
                      </a:r>
                    </a:p>
                  </a:txBody>
                  <a:tcPr marL="82296" marR="82296" marT="27432" marB="27432" anchor="ctr">
                    <a:solidFill>
                      <a:srgbClr val="FFFFFF"/>
                    </a:solidFill>
                  </a:tcPr>
                </a:tc>
                <a:tc>
                  <a:txBody>
                    <a:bodyPr wrap="square"/>
                    <a:lstStyle/>
                    <a:p>
                      <a:pPr algn="l"/>
                      <a:r>
                        <a:rPr sz="1050" b="0">
                          <a:solidFill>
                            <a:srgbClr val="2C3A47"/>
                          </a:solidFill>
                          <a:latin typeface="Segoe UI"/>
                        </a:rPr>
                        <a:t>Per airframe</a:t>
                      </a:r>
                    </a:p>
                  </a:txBody>
                  <a:tcPr marL="82296" marR="82296" marT="27432" marB="27432" anchor="ctr">
                    <a:solidFill>
                      <a:srgbClr val="FFFFFF"/>
                    </a:solidFill>
                  </a:tcPr>
                </a:tc>
                <a:tc>
                  <a:txBody>
                    <a:bodyPr wrap="square"/>
                    <a:lstStyle/>
                    <a:p>
                      <a:pPr algn="l"/>
                      <a:r>
                        <a:rPr sz="1050" b="1">
                          <a:solidFill>
                            <a:srgbClr val="1D6FA3"/>
                          </a:solidFill>
                          <a:latin typeface="Segoe UI"/>
                        </a:rPr>
                        <a:t>Config-driven, no code change</a:t>
                      </a:r>
                    </a:p>
                  </a:txBody>
                  <a:tcPr marL="82296" marR="82296" marT="27432" marB="27432" anchor="ctr">
                    <a:solidFill>
                      <a:srgbClr val="FFFFFF"/>
                    </a:solidFill>
                  </a:tcPr>
                </a:tc>
              </a:tr>
            </a:tbl>
          </a:graphicData>
        </a:graphic>
      </p:graphicFrame>
      <p:sp>
        <p:nvSpPr>
          <p:cNvPr id="8" name="TextBox 7"/>
          <p:cNvSpPr txBox="1"/>
          <p:nvPr/>
        </p:nvSpPr>
        <p:spPr>
          <a:xfrm>
            <a:off x="566928" y="3840480"/>
            <a:ext cx="5532120" cy="256032"/>
          </a:xfrm>
          <a:prstGeom prst="rect">
            <a:avLst/>
          </a:prstGeom>
          <a:noFill/>
        </p:spPr>
        <p:txBody>
          <a:bodyPr wrap="square" anchor="t" lIns="0" rIns="0" tIns="0" bIns="0">
            <a:spAutoFit/>
          </a:bodyPr>
          <a:lstStyle/>
          <a:p>
            <a:pPr algn="l">
              <a:lnSpc>
                <a:spcPct val="115000"/>
              </a:lnSpc>
              <a:spcAft>
                <a:spcPts val="0"/>
              </a:spcAft>
            </a:pPr>
            <a:r>
              <a:rPr sz="1300" b="1">
                <a:solidFill>
                  <a:srgbClr val="10243E"/>
                </a:solidFill>
                <a:latin typeface="Segoe UI"/>
              </a:rPr>
              <a:t>Challenges met</a:t>
            </a:r>
          </a:p>
        </p:txBody>
      </p:sp>
      <p:sp>
        <p:nvSpPr>
          <p:cNvPr id="9" name="TextBox 8"/>
          <p:cNvSpPr txBox="1"/>
          <p:nvPr/>
        </p:nvSpPr>
        <p:spPr>
          <a:xfrm>
            <a:off x="566928" y="4151376"/>
            <a:ext cx="5532120" cy="2011680"/>
          </a:xfrm>
          <a:prstGeom prst="rect">
            <a:avLst/>
          </a:prstGeom>
          <a:noFill/>
        </p:spPr>
        <p:txBody>
          <a:bodyPr wrap="square" anchor="t" lIns="0" rIns="0" tIns="0" bIns="0">
            <a:spAutoFit/>
          </a:bodyPr>
          <a:lstStyle/>
          <a:p>
            <a:pPr algn="l">
              <a:lnSpc>
                <a:spcPct val="122000"/>
              </a:lnSpc>
              <a:spcAft>
                <a:spcPts val="100"/>
              </a:spcAft>
            </a:pPr>
            <a:r>
              <a:rPr sz="1100" b="1">
                <a:solidFill>
                  <a:srgbClr val="10243E"/>
                </a:solidFill>
                <a:latin typeface="Segoe UI"/>
              </a:rPr>
              <a:t>False alarms at altitude. </a:t>
            </a:r>
          </a:p>
          <a:p>
            <a:pPr algn="l">
              <a:lnSpc>
                <a:spcPct val="122000"/>
              </a:lnSpc>
              <a:spcAft>
                <a:spcPts val="700"/>
              </a:spcAft>
            </a:pPr>
            <a:r>
              <a:rPr sz="1050" b="0">
                <a:solidFill>
                  <a:srgbClr val="2C3A47"/>
                </a:solidFill>
                <a:latin typeface="Segoe UI"/>
              </a:rPr>
              <a:t>A fixed threshold misfires as air density falls. Residuals removed the altitude dependence: the false alarm rate above 20,000 ft fell from 18.42 % to 0.70 %.</a:t>
            </a:r>
          </a:p>
          <a:p>
            <a:pPr algn="l">
              <a:lnSpc>
                <a:spcPct val="122000"/>
              </a:lnSpc>
              <a:spcAft>
                <a:spcPts val="100"/>
              </a:spcAft>
            </a:pPr>
            <a:r>
              <a:rPr sz="1100" b="1">
                <a:solidFill>
                  <a:srgbClr val="10243E"/>
                </a:solidFill>
                <a:latin typeface="Segoe UI"/>
              </a:rPr>
              <a:t>A broken probe is not a broken engine. </a:t>
            </a:r>
          </a:p>
          <a:p>
            <a:pPr algn="l">
              <a:lnSpc>
                <a:spcPct val="122000"/>
              </a:lnSpc>
              <a:spcAft>
                <a:spcPts val="700"/>
              </a:spcAft>
            </a:pPr>
            <a:r>
              <a:rPr sz="1050" b="0">
                <a:solidFill>
                  <a:srgbClr val="2C3A47"/>
                </a:solidFill>
                <a:latin typeface="Segoe UI"/>
              </a:rPr>
              <a:t>A dedicated validator cross-checks thermodynamic consistency, so a dead thermocouple is reported as a sensor fault instead of aborting a healthy sortie.</a:t>
            </a:r>
          </a:p>
        </p:txBody>
      </p:sp>
      <p:sp>
        <p:nvSpPr>
          <p:cNvPr id="10" name="TextBox 9"/>
          <p:cNvSpPr txBox="1"/>
          <p:nvPr/>
        </p:nvSpPr>
        <p:spPr>
          <a:xfrm>
            <a:off x="6510528" y="1719072"/>
            <a:ext cx="5669280" cy="256032"/>
          </a:xfrm>
          <a:prstGeom prst="rect">
            <a:avLst/>
          </a:prstGeom>
          <a:noFill/>
        </p:spPr>
        <p:txBody>
          <a:bodyPr wrap="square" anchor="t" lIns="0" rIns="0" tIns="0" bIns="0">
            <a:spAutoFit/>
          </a:bodyPr>
          <a:lstStyle/>
          <a:p>
            <a:pPr algn="l">
              <a:lnSpc>
                <a:spcPct val="115000"/>
              </a:lnSpc>
              <a:spcAft>
                <a:spcPts val="0"/>
              </a:spcAft>
            </a:pPr>
            <a:r>
              <a:rPr sz="1300" b="1">
                <a:solidFill>
                  <a:srgbClr val="10243E"/>
                </a:solidFill>
                <a:latin typeface="Segoe UI"/>
              </a:rPr>
              <a:t>Risks and mitigation</a:t>
            </a:r>
          </a:p>
        </p:txBody>
      </p:sp>
      <p:graphicFrame>
        <p:nvGraphicFramePr>
          <p:cNvPr id="11" name="Table 10"/>
          <p:cNvGraphicFramePr>
            <a:graphicFrameLocks noGrp="1"/>
          </p:cNvGraphicFramePr>
          <p:nvPr/>
        </p:nvGraphicFramePr>
        <p:xfrm>
          <a:off x="6510528" y="2011680"/>
          <a:ext cx="5669280" cy="3182112"/>
        </p:xfrm>
        <a:graphic>
          <a:graphicData uri="http://schemas.openxmlformats.org/drawingml/2006/table">
            <a:tbl>
              <a:tblPr firstRow="1">
                <a:tableStyleId>{5C22544A-7EE6-4342-B048-85BDC9FD1C3A}</a:tableStyleId>
              </a:tblPr>
              <a:tblGrid>
                <a:gridCol w="2103120"/>
                <a:gridCol w="3566160"/>
              </a:tblGrid>
              <a:tr h="329184">
                <a:tc>
                  <a:txBody>
                    <a:bodyPr wrap="square"/>
                    <a:lstStyle/>
                    <a:p>
                      <a:pPr algn="l"/>
                      <a:r>
                        <a:rPr sz="1000" b="1">
                          <a:solidFill>
                            <a:srgbClr val="10243E"/>
                          </a:solidFill>
                          <a:latin typeface="Segoe UI"/>
                        </a:rPr>
                        <a:t>Risk</a:t>
                      </a:r>
                    </a:p>
                  </a:txBody>
                  <a:tcPr marL="82296" marR="82296" marT="27432" marB="27432" anchor="ctr">
                    <a:solidFill>
                      <a:srgbClr val="E8EEF4"/>
                    </a:solidFill>
                  </a:tcPr>
                </a:tc>
                <a:tc>
                  <a:txBody>
                    <a:bodyPr wrap="square"/>
                    <a:lstStyle/>
                    <a:p>
                      <a:pPr algn="l"/>
                      <a:r>
                        <a:rPr sz="1000" b="1">
                          <a:solidFill>
                            <a:srgbClr val="10243E"/>
                          </a:solidFill>
                          <a:latin typeface="Segoe UI"/>
                        </a:rPr>
                        <a:t>Mitigation</a:t>
                      </a:r>
                    </a:p>
                  </a:txBody>
                  <a:tcPr marL="82296" marR="82296" marT="27432" marB="27432" anchor="ctr">
                    <a:solidFill>
                      <a:srgbClr val="E8EEF4"/>
                    </a:solidFill>
                  </a:tcPr>
                </a:tc>
              </a:tr>
              <a:tr h="713232">
                <a:tc>
                  <a:txBody>
                    <a:bodyPr wrap="square"/>
                    <a:lstStyle/>
                    <a:p>
                      <a:pPr algn="l"/>
                      <a:r>
                        <a:rPr sz="950" b="0">
                          <a:solidFill>
                            <a:srgbClr val="2C3A47"/>
                          </a:solidFill>
                          <a:latin typeface="Segoe UI"/>
                        </a:rPr>
                        <a:t>Models trained on one engine may not transfer</a:t>
                      </a:r>
                    </a:p>
                  </a:txBody>
                  <a:tcPr marL="82296" marR="82296" marT="27432" marB="27432" anchor="ctr">
                    <a:solidFill>
                      <a:srgbClr val="FFFFFF"/>
                    </a:solidFill>
                  </a:tcPr>
                </a:tc>
                <a:tc>
                  <a:txBody>
                    <a:bodyPr wrap="square"/>
                    <a:lstStyle/>
                    <a:p>
                      <a:pPr algn="l"/>
                      <a:r>
                        <a:rPr sz="950" b="0">
                          <a:solidFill>
                            <a:srgbClr val="2C3A47"/>
                          </a:solidFill>
                          <a:latin typeface="Segoe UI"/>
                        </a:rPr>
                        <a:t>Physics is re-parameterised per engine; diagnosis is reported as uncalibrated on any other, never silently trusted</a:t>
                      </a:r>
                    </a:p>
                  </a:txBody>
                  <a:tcPr marL="82296" marR="82296" marT="27432" marB="27432" anchor="ctr">
                    <a:solidFill>
                      <a:srgbClr val="FFFFFF"/>
                    </a:solidFill>
                  </a:tcPr>
                </a:tc>
              </a:tr>
              <a:tr h="713232">
                <a:tc>
                  <a:txBody>
                    <a:bodyPr wrap="square"/>
                    <a:lstStyle/>
                    <a:p>
                      <a:pPr algn="l"/>
                      <a:r>
                        <a:rPr sz="950" b="0">
                          <a:solidFill>
                            <a:srgbClr val="2C3A47"/>
                          </a:solidFill>
                          <a:latin typeface="Segoe UI"/>
                        </a:rPr>
                        <a:t>Simulated training data may not match a real engine</a:t>
                      </a:r>
                    </a:p>
                  </a:txBody>
                  <a:tcPr marL="82296" marR="82296" marT="27432" marB="27432" anchor="ctr">
                    <a:solidFill>
                      <a:srgbClr val="FFFFFF"/>
                    </a:solidFill>
                  </a:tcPr>
                </a:tc>
                <a:tc>
                  <a:txBody>
                    <a:bodyPr wrap="square"/>
                    <a:lstStyle/>
                    <a:p>
                      <a:pPr algn="l"/>
                      <a:r>
                        <a:rPr sz="950" b="0">
                          <a:solidFill>
                            <a:srgbClr val="2C3A47"/>
                          </a:solidFill>
                          <a:latin typeface="Segoe UI"/>
                        </a:rPr>
                        <a:t>Build-variant sampling and sensor noise modelling; the residual definition is what transfers, not the weights</a:t>
                      </a:r>
                    </a:p>
                  </a:txBody>
                  <a:tcPr marL="82296" marR="82296" marT="27432" marB="27432" anchor="ctr">
                    <a:solidFill>
                      <a:srgbClr val="FFFFFF"/>
                    </a:solidFill>
                  </a:tcPr>
                </a:tc>
              </a:tr>
              <a:tr h="713232">
                <a:tc>
                  <a:txBody>
                    <a:bodyPr wrap="square"/>
                    <a:lstStyle/>
                    <a:p>
                      <a:pPr algn="l"/>
                      <a:r>
                        <a:rPr sz="950" b="0">
                          <a:solidFill>
                            <a:srgbClr val="2C3A47"/>
                          </a:solidFill>
                          <a:latin typeface="Segoe UI"/>
                        </a:rPr>
                        <a:t>A confident wrong answer is worse than none</a:t>
                      </a:r>
                    </a:p>
                  </a:txBody>
                  <a:tcPr marL="82296" marR="82296" marT="27432" marB="27432" anchor="ctr">
                    <a:solidFill>
                      <a:srgbClr val="FFFFFF"/>
                    </a:solidFill>
                  </a:tcPr>
                </a:tc>
                <a:tc>
                  <a:txBody>
                    <a:bodyPr wrap="square"/>
                    <a:lstStyle/>
                    <a:p>
                      <a:pPr algn="l"/>
                      <a:r>
                        <a:rPr sz="950" b="0">
                          <a:solidFill>
                            <a:srgbClr val="2C3A47"/>
                          </a:solidFill>
                          <a:latin typeface="Segoe UI"/>
                        </a:rPr>
                        <a:t>Temperature scaling calibrates confidence; the autoencoder gate must fire before the classifier is believed</a:t>
                      </a:r>
                    </a:p>
                  </a:txBody>
                  <a:tcPr marL="82296" marR="82296" marT="27432" marB="27432" anchor="ctr">
                    <a:solidFill>
                      <a:srgbClr val="FFFFFF"/>
                    </a:solidFill>
                  </a:tcPr>
                </a:tc>
              </a:tr>
              <a:tr h="713232">
                <a:tc>
                  <a:txBody>
                    <a:bodyPr wrap="square"/>
                    <a:lstStyle/>
                    <a:p>
                      <a:pPr algn="l"/>
                      <a:r>
                        <a:rPr sz="950" b="0">
                          <a:solidFill>
                            <a:srgbClr val="2C3A47"/>
                          </a:solidFill>
                          <a:latin typeface="Segoe UI"/>
                        </a:rPr>
                        <a:t>Operator cannot audit an AI decision</a:t>
                      </a:r>
                    </a:p>
                  </a:txBody>
                  <a:tcPr marL="82296" marR="82296" marT="27432" marB="27432" anchor="ctr">
                    <a:solidFill>
                      <a:srgbClr val="FFFFFF"/>
                    </a:solidFill>
                  </a:tcPr>
                </a:tc>
                <a:tc>
                  <a:txBody>
                    <a:bodyPr wrap="square"/>
                    <a:lstStyle/>
                    <a:p>
                      <a:pPr algn="l"/>
                      <a:r>
                        <a:rPr sz="950" b="0">
                          <a:solidFill>
                            <a:srgbClr val="2C3A47"/>
                          </a:solidFill>
                          <a:latin typeface="Segoe UI"/>
                        </a:rPr>
                        <a:t>Every alert carries the ranked channels that drove it, and the physics value it departed from</a:t>
                      </a:r>
                    </a:p>
                  </a:txBody>
                  <a:tcPr marL="82296" marR="82296" marT="27432" marB="27432" anchor="ctr">
                    <a:solidFill>
                      <a:srgbClr val="FFFFFF"/>
                    </a:solidFill>
                  </a:tcPr>
                </a:tc>
              </a:tr>
            </a:tbl>
          </a:graphicData>
        </a:graphic>
      </p:graphicFrame>
      <p:sp>
        <p:nvSpPr>
          <p:cNvPr id="12" name="Rectangle 11"/>
          <p:cNvSpPr/>
          <p:nvPr/>
        </p:nvSpPr>
        <p:spPr>
          <a:xfrm>
            <a:off x="566928" y="6327648"/>
            <a:ext cx="11057839" cy="9525"/>
          </a:xfrm>
          <a:prstGeom prst="rect">
            <a:avLst/>
          </a:prstGeom>
          <a:solidFill>
            <a:srgbClr val="D5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19088"/>
            <a:ext cx="8229600" cy="256032"/>
          </a:xfrm>
          <a:prstGeom prst="rect">
            <a:avLst/>
          </a:prstGeom>
          <a:noFill/>
        </p:spPr>
        <p:txBody>
          <a:bodyPr wrap="square" anchor="t" lIns="0" rIns="0" tIns="0" bIns="0">
            <a:spAutoFit/>
          </a:bodyPr>
          <a:lstStyle/>
          <a:p>
            <a:pPr algn="l">
              <a:lnSpc>
                <a:spcPct val="115000"/>
              </a:lnSpc>
              <a:spcAft>
                <a:spcPts val="0"/>
              </a:spcAft>
            </a:pPr>
            <a:r>
              <a:rPr sz="900" b="0">
                <a:solidFill>
                  <a:srgbClr val="6B7A88"/>
                </a:solidFill>
                <a:latin typeface="Segoe UI"/>
              </a:rPr>
              <a:t>EngineTwin  ·  SIH 2026  ·  PS 26054  ·  DRDO  ·  AI-Enabled Real-Time Digital Twin for Aero Piston Engines in MALE UAVs</a:t>
            </a:r>
          </a:p>
        </p:txBody>
      </p:sp>
      <p:sp>
        <p:nvSpPr>
          <p:cNvPr id="14" name="TextBox 13"/>
          <p:cNvSpPr txBox="1"/>
          <p:nvPr/>
        </p:nvSpPr>
        <p:spPr>
          <a:xfrm>
            <a:off x="10984687" y="6419088"/>
            <a:ext cx="640080" cy="256032"/>
          </a:xfrm>
          <a:prstGeom prst="rect">
            <a:avLst/>
          </a:prstGeom>
          <a:noFill/>
        </p:spPr>
        <p:txBody>
          <a:bodyPr wrap="square" anchor="t" lIns="0" rIns="0" tIns="0" bIns="0">
            <a:spAutoFit/>
          </a:bodyPr>
          <a:lstStyle/>
          <a:p>
            <a:pPr algn="r">
              <a:lnSpc>
                <a:spcPct val="115000"/>
              </a:lnSpc>
              <a:spcAft>
                <a:spcPts val="0"/>
              </a:spcAft>
            </a:pPr>
            <a:r>
              <a:rPr sz="900" b="1">
                <a:solidFill>
                  <a:srgbClr val="1D6FA3"/>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D6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10896"/>
          </a:xfrm>
          <a:prstGeom prst="rect">
            <a:avLst/>
          </a:prstGeom>
          <a:noFill/>
        </p:spPr>
        <p:txBody>
          <a:bodyPr wrap="square" anchor="t" lIns="0" rIns="0" tIns="0" bIns="0">
            <a:spAutoFit/>
          </a:bodyPr>
          <a:lstStyle/>
          <a:p>
            <a:pPr algn="l">
              <a:lnSpc>
                <a:spcPct val="115000"/>
              </a:lnSpc>
              <a:spcAft>
                <a:spcPts val="0"/>
              </a:spcAft>
            </a:pPr>
            <a:r>
              <a:rPr sz="1300" b="1">
                <a:solidFill>
                  <a:srgbClr val="1D6FA3"/>
                </a:solidFill>
                <a:latin typeface="Segoe UI"/>
              </a:rPr>
              <a:t>04</a:t>
            </a:r>
          </a:p>
        </p:txBody>
      </p:sp>
      <p:sp>
        <p:nvSpPr>
          <p:cNvPr id="4" name="TextBox 3"/>
          <p:cNvSpPr txBox="1"/>
          <p:nvPr/>
        </p:nvSpPr>
        <p:spPr>
          <a:xfrm>
            <a:off x="566928" y="676656"/>
            <a:ext cx="11057839" cy="566928"/>
          </a:xfrm>
          <a:prstGeom prst="rect">
            <a:avLst/>
          </a:prstGeom>
          <a:noFill/>
        </p:spPr>
        <p:txBody>
          <a:bodyPr wrap="square" anchor="t" lIns="0" rIns="0" tIns="0" bIns="0">
            <a:spAutoFit/>
          </a:bodyPr>
          <a:lstStyle/>
          <a:p>
            <a:pPr algn="l">
              <a:lnSpc>
                <a:spcPct val="115000"/>
              </a:lnSpc>
              <a:spcAft>
                <a:spcPts val="0"/>
              </a:spcAft>
            </a:pPr>
            <a:r>
              <a:rPr sz="3100" b="1">
                <a:solidFill>
                  <a:srgbClr val="10243E"/>
                </a:solidFill>
                <a:latin typeface="Segoe UI"/>
              </a:rPr>
              <a:t>Impact and Benefits</a:t>
            </a:r>
          </a:p>
        </p:txBody>
      </p:sp>
      <p:sp>
        <p:nvSpPr>
          <p:cNvPr id="5" name="TextBox 4"/>
          <p:cNvSpPr txBox="1"/>
          <p:nvPr/>
        </p:nvSpPr>
        <p:spPr>
          <a:xfrm>
            <a:off x="566928" y="1243584"/>
            <a:ext cx="11057839" cy="384048"/>
          </a:xfrm>
          <a:prstGeom prst="rect">
            <a:avLst/>
          </a:prstGeom>
          <a:noFill/>
        </p:spPr>
        <p:txBody>
          <a:bodyPr wrap="square" anchor="t" lIns="0" rIns="0" tIns="0" bIns="0">
            <a:spAutoFit/>
          </a:bodyPr>
          <a:lstStyle/>
          <a:p>
            <a:pPr algn="l">
              <a:lnSpc>
                <a:spcPct val="125000"/>
              </a:lnSpc>
              <a:spcAft>
                <a:spcPts val="0"/>
              </a:spcAft>
            </a:pPr>
            <a:r>
              <a:rPr sz="1350" b="0">
                <a:solidFill>
                  <a:srgbClr val="6B7A88"/>
                </a:solidFill>
                <a:latin typeface="Segoe UI"/>
              </a:rPr>
              <a:t>Benchmarked against the two things this would actually replace: a conventional threshold-based engine instrument system, and a black-box model on raw telemetry.</a:t>
            </a:r>
          </a:p>
        </p:txBody>
      </p:sp>
      <p:graphicFrame>
        <p:nvGraphicFramePr>
          <p:cNvPr id="6" name="Table 5"/>
          <p:cNvGraphicFramePr>
            <a:graphicFrameLocks noGrp="1"/>
          </p:cNvGraphicFramePr>
          <p:nvPr/>
        </p:nvGraphicFramePr>
        <p:xfrm>
          <a:off x="566928" y="1755648"/>
          <a:ext cx="11064240" cy="2665476"/>
        </p:xfrm>
        <a:graphic>
          <a:graphicData uri="http://schemas.openxmlformats.org/drawingml/2006/table">
            <a:tbl>
              <a:tblPr firstRow="1">
                <a:tableStyleId>{5C22544A-7EE6-4342-B048-85BDC9FD1C3A}</a:tableStyleId>
              </a:tblPr>
              <a:tblGrid>
                <a:gridCol w="3063240"/>
                <a:gridCol w="2331720"/>
                <a:gridCol w="3017520"/>
                <a:gridCol w="2651760"/>
              </a:tblGrid>
              <a:tr h="329184">
                <a:tc>
                  <a:txBody>
                    <a:bodyPr wrap="square"/>
                    <a:lstStyle/>
                    <a:p>
                      <a:pPr algn="l"/>
                      <a:r>
                        <a:rPr sz="1000" b="1">
                          <a:solidFill>
                            <a:srgbClr val="10243E"/>
                          </a:solidFill>
                          <a:latin typeface="Segoe UI"/>
                        </a:rPr>
                        <a:t>Metric</a:t>
                      </a:r>
                    </a:p>
                  </a:txBody>
                  <a:tcPr marL="82296" marR="82296" marT="27432" marB="27432" anchor="ctr">
                    <a:solidFill>
                      <a:srgbClr val="E8EEF4"/>
                    </a:solidFill>
                  </a:tcPr>
                </a:tc>
                <a:tc>
                  <a:txBody>
                    <a:bodyPr wrap="square"/>
                    <a:lstStyle/>
                    <a:p>
                      <a:pPr algn="l"/>
                      <a:r>
                        <a:rPr sz="1000" b="1">
                          <a:solidFill>
                            <a:srgbClr val="10243E"/>
                          </a:solidFill>
                          <a:latin typeface="Segoe UI"/>
                        </a:rPr>
                        <a:t>Fixed-threshold EIS</a:t>
                      </a:r>
                    </a:p>
                  </a:txBody>
                  <a:tcPr marL="82296" marR="82296" marT="27432" marB="27432" anchor="ctr">
                    <a:solidFill>
                      <a:srgbClr val="E8EEF4"/>
                    </a:solidFill>
                  </a:tcPr>
                </a:tc>
                <a:tc>
                  <a:txBody>
                    <a:bodyPr wrap="square"/>
                    <a:lstStyle/>
                    <a:p>
                      <a:pPr algn="l"/>
                      <a:r>
                        <a:rPr sz="1000" b="1">
                          <a:solidFill>
                            <a:srgbClr val="10243E"/>
                          </a:solidFill>
                          <a:latin typeface="Segoe UI"/>
                        </a:rPr>
                        <a:t>Black-box ML on raw telemetry</a:t>
                      </a:r>
                    </a:p>
                  </a:txBody>
                  <a:tcPr marL="82296" marR="82296" marT="27432" marB="27432" anchor="ctr">
                    <a:solidFill>
                      <a:srgbClr val="E8EEF4"/>
                    </a:solidFill>
                  </a:tcPr>
                </a:tc>
                <a:tc>
                  <a:txBody>
                    <a:bodyPr wrap="square"/>
                    <a:lstStyle/>
                    <a:p>
                      <a:pPr algn="l"/>
                      <a:r>
                        <a:rPr sz="1000" b="1">
                          <a:solidFill>
                            <a:srgbClr val="10243E"/>
                          </a:solidFill>
                          <a:latin typeface="Segoe UI"/>
                        </a:rPr>
                        <a:t>EngineTwin</a:t>
                      </a:r>
                    </a:p>
                  </a:txBody>
                  <a:tcPr marL="82296" marR="82296" marT="27432" marB="27432" anchor="ctr">
                    <a:solidFill>
                      <a:srgbClr val="E8EEF4"/>
                    </a:solidFill>
                  </a:tcPr>
                </a:tc>
              </a:tr>
              <a:tr h="333756">
                <a:tc>
                  <a:txBody>
                    <a:bodyPr wrap="square"/>
                    <a:lstStyle/>
                    <a:p>
                      <a:pPr algn="l"/>
                      <a:r>
                        <a:rPr sz="1050" b="0">
                          <a:solidFill>
                            <a:srgbClr val="2C3A47"/>
                          </a:solidFill>
                          <a:latin typeface="Segoe UI"/>
                        </a:rPr>
                        <a:t>Classification accuracy</a:t>
                      </a:r>
                    </a:p>
                  </a:txBody>
                  <a:tcPr marL="82296" marR="82296" marT="27432" marB="27432" anchor="ctr">
                    <a:solidFill>
                      <a:srgbClr val="FFFFFF"/>
                    </a:solidFill>
                  </a:tcPr>
                </a:tc>
                <a:tc>
                  <a:txBody>
                    <a:bodyPr wrap="square"/>
                    <a:lstStyle/>
                    <a:p>
                      <a:pPr algn="r"/>
                      <a:r>
                        <a:rPr sz="1050" b="0">
                          <a:solidFill>
                            <a:srgbClr val="2C3A47"/>
                          </a:solidFill>
                          <a:latin typeface="Segoe UI"/>
                        </a:rPr>
                        <a:t>53.65 %</a:t>
                      </a:r>
                    </a:p>
                  </a:txBody>
                  <a:tcPr marL="82296" marR="82296" marT="27432" marB="27432" anchor="ctr">
                    <a:solidFill>
                      <a:srgbClr val="FFFFFF"/>
                    </a:solidFill>
                  </a:tcPr>
                </a:tc>
                <a:tc>
                  <a:txBody>
                    <a:bodyPr wrap="square"/>
                    <a:lstStyle/>
                    <a:p>
                      <a:pPr algn="r"/>
                      <a:r>
                        <a:rPr sz="1050" b="0">
                          <a:solidFill>
                            <a:srgbClr val="2C3A47"/>
                          </a:solidFill>
                          <a:latin typeface="Segoe UI"/>
                        </a:rPr>
                        <a:t>86.93 %</a:t>
                      </a:r>
                    </a:p>
                  </a:txBody>
                  <a:tcPr marL="82296" marR="82296" marT="27432" marB="27432" anchor="ctr">
                    <a:solidFill>
                      <a:srgbClr val="FFFFFF"/>
                    </a:solidFill>
                  </a:tcPr>
                </a:tc>
                <a:tc>
                  <a:txBody>
                    <a:bodyPr wrap="square"/>
                    <a:lstStyle/>
                    <a:p>
                      <a:pPr algn="r"/>
                      <a:r>
                        <a:rPr sz="1050" b="1">
                          <a:solidFill>
                            <a:srgbClr val="1D6FA3"/>
                          </a:solidFill>
                          <a:latin typeface="Segoe UI"/>
                        </a:rPr>
                        <a:t>97.64 %</a:t>
                      </a:r>
                    </a:p>
                  </a:txBody>
                  <a:tcPr marL="82296" marR="82296" marT="27432" marB="27432" anchor="ctr">
                    <a:solidFill>
                      <a:srgbClr val="FFFFFF"/>
                    </a:solidFill>
                  </a:tcPr>
                </a:tc>
              </a:tr>
              <a:tr h="333756">
                <a:tc>
                  <a:txBody>
                    <a:bodyPr wrap="square"/>
                    <a:lstStyle/>
                    <a:p>
                      <a:pPr algn="l"/>
                      <a:r>
                        <a:rPr sz="1050" b="0">
                          <a:solidFill>
                            <a:srgbClr val="2C3A47"/>
                          </a:solidFill>
                          <a:latin typeface="Segoe UI"/>
                        </a:rPr>
                        <a:t>Macro F1 score</a:t>
                      </a:r>
                    </a:p>
                  </a:txBody>
                  <a:tcPr marL="82296" marR="82296" marT="27432" marB="27432" anchor="ctr">
                    <a:solidFill>
                      <a:srgbClr val="FFFFFF"/>
                    </a:solidFill>
                  </a:tcPr>
                </a:tc>
                <a:tc>
                  <a:txBody>
                    <a:bodyPr wrap="square"/>
                    <a:lstStyle/>
                    <a:p>
                      <a:pPr algn="r"/>
                      <a:r>
                        <a:rPr sz="1050" b="0">
                          <a:solidFill>
                            <a:srgbClr val="2C3A47"/>
                          </a:solidFill>
                          <a:latin typeface="Segoe UI"/>
                        </a:rPr>
                        <a:t>0.2463</a:t>
                      </a:r>
                    </a:p>
                  </a:txBody>
                  <a:tcPr marL="82296" marR="82296" marT="27432" marB="27432" anchor="ctr">
                    <a:solidFill>
                      <a:srgbClr val="FFFFFF"/>
                    </a:solidFill>
                  </a:tcPr>
                </a:tc>
                <a:tc>
                  <a:txBody>
                    <a:bodyPr wrap="square"/>
                    <a:lstStyle/>
                    <a:p>
                      <a:pPr algn="r"/>
                      <a:r>
                        <a:rPr sz="1050" b="0">
                          <a:solidFill>
                            <a:srgbClr val="2C3A47"/>
                          </a:solidFill>
                          <a:latin typeface="Segoe UI"/>
                        </a:rPr>
                        <a:t>0.8696</a:t>
                      </a:r>
                    </a:p>
                  </a:txBody>
                  <a:tcPr marL="82296" marR="82296" marT="27432" marB="27432" anchor="ctr">
                    <a:solidFill>
                      <a:srgbClr val="FFFFFF"/>
                    </a:solidFill>
                  </a:tcPr>
                </a:tc>
                <a:tc>
                  <a:txBody>
                    <a:bodyPr wrap="square"/>
                    <a:lstStyle/>
                    <a:p>
                      <a:pPr algn="r"/>
                      <a:r>
                        <a:rPr sz="1050" b="1">
                          <a:solidFill>
                            <a:srgbClr val="1D6FA3"/>
                          </a:solidFill>
                          <a:latin typeface="Segoe UI"/>
                        </a:rPr>
                        <a:t>0.9769</a:t>
                      </a:r>
                    </a:p>
                  </a:txBody>
                  <a:tcPr marL="82296" marR="82296" marT="27432" marB="27432" anchor="ctr">
                    <a:solidFill>
                      <a:srgbClr val="FFFFFF"/>
                    </a:solidFill>
                  </a:tcPr>
                </a:tc>
              </a:tr>
              <a:tr h="333756">
                <a:tc>
                  <a:txBody>
                    <a:bodyPr wrap="square"/>
                    <a:lstStyle/>
                    <a:p>
                      <a:pPr algn="l"/>
                      <a:r>
                        <a:rPr sz="1050" b="0">
                          <a:solidFill>
                            <a:srgbClr val="2C3A47"/>
                          </a:solidFill>
                          <a:latin typeface="Segoe UI"/>
                        </a:rPr>
                        <a:t>Mean detection latency</a:t>
                      </a:r>
                    </a:p>
                  </a:txBody>
                  <a:tcPr marL="82296" marR="82296" marT="27432" marB="27432" anchor="ctr">
                    <a:solidFill>
                      <a:srgbClr val="FFFFFF"/>
                    </a:solidFill>
                  </a:tcPr>
                </a:tc>
                <a:tc>
                  <a:txBody>
                    <a:bodyPr wrap="square"/>
                    <a:lstStyle/>
                    <a:p>
                      <a:pPr algn="r"/>
                      <a:r>
                        <a:rPr sz="1050" b="0">
                          <a:solidFill>
                            <a:srgbClr val="2C3A47"/>
                          </a:solidFill>
                          <a:latin typeface="Segoe UI"/>
                        </a:rPr>
                        <a:t>28.26 s</a:t>
                      </a:r>
                    </a:p>
                  </a:txBody>
                  <a:tcPr marL="82296" marR="82296" marT="27432" marB="27432" anchor="ctr">
                    <a:solidFill>
                      <a:srgbClr val="FFFFFF"/>
                    </a:solidFill>
                  </a:tcPr>
                </a:tc>
                <a:tc>
                  <a:txBody>
                    <a:bodyPr wrap="square"/>
                    <a:lstStyle/>
                    <a:p>
                      <a:pPr algn="r"/>
                      <a:r>
                        <a:rPr sz="1050" b="0">
                          <a:solidFill>
                            <a:srgbClr val="2C3A47"/>
                          </a:solidFill>
                          <a:latin typeface="Segoe UI"/>
                        </a:rPr>
                        <a:t>8.00 s</a:t>
                      </a:r>
                    </a:p>
                  </a:txBody>
                  <a:tcPr marL="82296" marR="82296" marT="27432" marB="27432" anchor="ctr">
                    <a:solidFill>
                      <a:srgbClr val="FFFFFF"/>
                    </a:solidFill>
                  </a:tcPr>
                </a:tc>
                <a:tc>
                  <a:txBody>
                    <a:bodyPr wrap="square"/>
                    <a:lstStyle/>
                    <a:p>
                      <a:pPr algn="r"/>
                      <a:r>
                        <a:rPr sz="1050" b="1">
                          <a:solidFill>
                            <a:srgbClr val="1D6FA3"/>
                          </a:solidFill>
                          <a:latin typeface="Segoe UI"/>
                        </a:rPr>
                        <a:t>2.87 s</a:t>
                      </a:r>
                    </a:p>
                  </a:txBody>
                  <a:tcPr marL="82296" marR="82296" marT="27432" marB="27432" anchor="ctr">
                    <a:solidFill>
                      <a:srgbClr val="FFFFFF"/>
                    </a:solidFill>
                  </a:tcPr>
                </a:tc>
              </a:tr>
              <a:tr h="333756">
                <a:tc>
                  <a:txBody>
                    <a:bodyPr wrap="square"/>
                    <a:lstStyle/>
                    <a:p>
                      <a:pPr algn="l"/>
                      <a:r>
                        <a:rPr sz="1050" b="0">
                          <a:solidFill>
                            <a:srgbClr val="2C3A47"/>
                          </a:solidFill>
                          <a:latin typeface="Segoe UI"/>
                        </a:rPr>
                        <a:t>False alarm rate, healthy engine</a:t>
                      </a:r>
                    </a:p>
                  </a:txBody>
                  <a:tcPr marL="82296" marR="82296" marT="27432" marB="27432" anchor="ctr">
                    <a:solidFill>
                      <a:srgbClr val="FFFFFF"/>
                    </a:solidFill>
                  </a:tcPr>
                </a:tc>
                <a:tc>
                  <a:txBody>
                    <a:bodyPr wrap="square"/>
                    <a:lstStyle/>
                    <a:p>
                      <a:pPr algn="r"/>
                      <a:r>
                        <a:rPr sz="1050" b="0">
                          <a:solidFill>
                            <a:srgbClr val="2C3A47"/>
                          </a:solidFill>
                          <a:latin typeface="Segoe UI"/>
                        </a:rPr>
                        <a:t>0.00 %</a:t>
                      </a:r>
                    </a:p>
                  </a:txBody>
                  <a:tcPr marL="82296" marR="82296" marT="27432" marB="27432" anchor="ctr">
                    <a:solidFill>
                      <a:srgbClr val="FFFFFF"/>
                    </a:solidFill>
                  </a:tcPr>
                </a:tc>
                <a:tc>
                  <a:txBody>
                    <a:bodyPr wrap="square"/>
                    <a:lstStyle/>
                    <a:p>
                      <a:pPr algn="r"/>
                      <a:r>
                        <a:rPr sz="1050" b="0">
                          <a:solidFill>
                            <a:srgbClr val="2C3A47"/>
                          </a:solidFill>
                          <a:latin typeface="Segoe UI"/>
                        </a:rPr>
                        <a:t>11.74 %</a:t>
                      </a:r>
                    </a:p>
                  </a:txBody>
                  <a:tcPr marL="82296" marR="82296" marT="27432" marB="27432" anchor="ctr">
                    <a:solidFill>
                      <a:srgbClr val="FFFFFF"/>
                    </a:solidFill>
                  </a:tcPr>
                </a:tc>
                <a:tc>
                  <a:txBody>
                    <a:bodyPr wrap="square"/>
                    <a:lstStyle/>
                    <a:p>
                      <a:pPr algn="r"/>
                      <a:r>
                        <a:rPr sz="1050" b="1">
                          <a:solidFill>
                            <a:srgbClr val="1D6FA3"/>
                          </a:solidFill>
                          <a:latin typeface="Segoe UI"/>
                        </a:rPr>
                        <a:t>1.41 %</a:t>
                      </a:r>
                    </a:p>
                  </a:txBody>
                  <a:tcPr marL="82296" marR="82296" marT="27432" marB="27432" anchor="ctr">
                    <a:solidFill>
                      <a:srgbClr val="FFFFFF"/>
                    </a:solidFill>
                  </a:tcPr>
                </a:tc>
              </a:tr>
              <a:tr h="333756">
                <a:tc>
                  <a:txBody>
                    <a:bodyPr wrap="square"/>
                    <a:lstStyle/>
                    <a:p>
                      <a:pPr algn="l"/>
                      <a:r>
                        <a:rPr sz="1050" b="0">
                          <a:solidFill>
                            <a:srgbClr val="2C3A47"/>
                          </a:solidFill>
                          <a:latin typeface="Segoe UI"/>
                        </a:rPr>
                        <a:t>Sensor fault vs engine fault</a:t>
                      </a:r>
                    </a:p>
                  </a:txBody>
                  <a:tcPr marL="82296" marR="82296" marT="27432" marB="27432" anchor="ctr">
                    <a:solidFill>
                      <a:srgbClr val="FFFFFF"/>
                    </a:solidFill>
                  </a:tcPr>
                </a:tc>
                <a:tc>
                  <a:txBody>
                    <a:bodyPr wrap="square"/>
                    <a:lstStyle/>
                    <a:p>
                      <a:pPr algn="l"/>
                      <a:r>
                        <a:rPr sz="1050" b="0">
                          <a:solidFill>
                            <a:srgbClr val="2C3A47"/>
                          </a:solidFill>
                          <a:latin typeface="Segoe UI"/>
                        </a:rPr>
                        <a:t>No, false abort</a:t>
                      </a:r>
                    </a:p>
                  </a:txBody>
                  <a:tcPr marL="82296" marR="82296" marT="27432" marB="27432" anchor="ctr">
                    <a:solidFill>
                      <a:srgbClr val="FFFFFF"/>
                    </a:solidFill>
                  </a:tcPr>
                </a:tc>
                <a:tc>
                  <a:txBody>
                    <a:bodyPr wrap="square"/>
                    <a:lstStyle/>
                    <a:p>
                      <a:pPr algn="l"/>
                      <a:r>
                        <a:rPr sz="1050" b="0">
                          <a:solidFill>
                            <a:srgbClr val="2C3A47"/>
                          </a:solidFill>
                          <a:latin typeface="Segoe UI"/>
                        </a:rPr>
                        <a:t>No, confounded</a:t>
                      </a:r>
                    </a:p>
                  </a:txBody>
                  <a:tcPr marL="82296" marR="82296" marT="27432" marB="27432" anchor="ctr">
                    <a:solidFill>
                      <a:srgbClr val="FFFFFF"/>
                    </a:solidFill>
                  </a:tcPr>
                </a:tc>
                <a:tc>
                  <a:txBody>
                    <a:bodyPr wrap="square"/>
                    <a:lstStyle/>
                    <a:p>
                      <a:pPr algn="l"/>
                      <a:r>
                        <a:rPr sz="1050" b="1">
                          <a:solidFill>
                            <a:srgbClr val="1D6FA3"/>
                          </a:solidFill>
                          <a:latin typeface="Segoe UI"/>
                        </a:rPr>
                        <a:t>Yes, physics-decoupled</a:t>
                      </a:r>
                    </a:p>
                  </a:txBody>
                  <a:tcPr marL="82296" marR="82296" marT="27432" marB="27432" anchor="ctr">
                    <a:solidFill>
                      <a:srgbClr val="FFFFFF"/>
                    </a:solidFill>
                  </a:tcPr>
                </a:tc>
              </a:tr>
              <a:tr h="333756">
                <a:tc>
                  <a:txBody>
                    <a:bodyPr wrap="square"/>
                    <a:lstStyle/>
                    <a:p>
                      <a:pPr algn="l"/>
                      <a:r>
                        <a:rPr sz="1050" b="0">
                          <a:solidFill>
                            <a:srgbClr val="2C3A47"/>
                          </a:solidFill>
                          <a:latin typeface="Segoe UI"/>
                        </a:rPr>
                        <a:t>Explanation of a decision</a:t>
                      </a:r>
                    </a:p>
                  </a:txBody>
                  <a:tcPr marL="82296" marR="82296" marT="27432" marB="27432" anchor="ctr">
                    <a:solidFill>
                      <a:srgbClr val="FFFFFF"/>
                    </a:solidFill>
                  </a:tcPr>
                </a:tc>
                <a:tc>
                  <a:txBody>
                    <a:bodyPr wrap="square"/>
                    <a:lstStyle/>
                    <a:p>
                      <a:pPr algn="l"/>
                      <a:r>
                        <a:rPr sz="1050" b="0">
                          <a:solidFill>
                            <a:srgbClr val="2C3A47"/>
                          </a:solidFill>
                          <a:latin typeface="Segoe UI"/>
                        </a:rPr>
                        <a:t>None</a:t>
                      </a:r>
                    </a:p>
                  </a:txBody>
                  <a:tcPr marL="82296" marR="82296" marT="27432" marB="27432" anchor="ctr">
                    <a:solidFill>
                      <a:srgbClr val="FFFFFF"/>
                    </a:solidFill>
                  </a:tcPr>
                </a:tc>
                <a:tc>
                  <a:txBody>
                    <a:bodyPr wrap="square"/>
                    <a:lstStyle/>
                    <a:p>
                      <a:pPr algn="l"/>
                      <a:r>
                        <a:rPr sz="1050" b="0">
                          <a:solidFill>
                            <a:srgbClr val="2C3A47"/>
                          </a:solidFill>
                          <a:latin typeface="Segoe UI"/>
                        </a:rPr>
                        <a:t>Feature importance only</a:t>
                      </a:r>
                    </a:p>
                  </a:txBody>
                  <a:tcPr marL="82296" marR="82296" marT="27432" marB="27432" anchor="ctr">
                    <a:solidFill>
                      <a:srgbClr val="FFFFFF"/>
                    </a:solidFill>
                  </a:tcPr>
                </a:tc>
                <a:tc>
                  <a:txBody>
                    <a:bodyPr wrap="square"/>
                    <a:lstStyle/>
                    <a:p>
                      <a:pPr algn="l"/>
                      <a:r>
                        <a:rPr sz="1050" b="1">
                          <a:solidFill>
                            <a:srgbClr val="1D6FA3"/>
                          </a:solidFill>
                          <a:latin typeface="Segoe UI"/>
                        </a:rPr>
                        <a:t>Ranked evidence per alert</a:t>
                      </a:r>
                    </a:p>
                  </a:txBody>
                  <a:tcPr marL="82296" marR="82296" marT="27432" marB="27432" anchor="ctr">
                    <a:solidFill>
                      <a:srgbClr val="FFFFFF"/>
                    </a:solidFill>
                  </a:tcPr>
                </a:tc>
              </a:tr>
              <a:tr h="333756">
                <a:tc>
                  <a:txBody>
                    <a:bodyPr wrap="square"/>
                    <a:lstStyle/>
                    <a:p>
                      <a:pPr algn="l"/>
                      <a:r>
                        <a:rPr sz="1050" b="0">
                          <a:solidFill>
                            <a:srgbClr val="2C3A47"/>
                          </a:solidFill>
                          <a:latin typeface="Segoe UI"/>
                        </a:rPr>
                        <a:t>Remaining useful life</a:t>
                      </a:r>
                    </a:p>
                  </a:txBody>
                  <a:tcPr marL="82296" marR="82296" marT="27432" marB="27432" anchor="ctr">
                    <a:solidFill>
                      <a:srgbClr val="FFFFFF"/>
                    </a:solidFill>
                  </a:tcPr>
                </a:tc>
                <a:tc>
                  <a:txBody>
                    <a:bodyPr wrap="square"/>
                    <a:lstStyle/>
                    <a:p>
                      <a:pPr algn="l"/>
                      <a:r>
                        <a:rPr sz="1050" b="0">
                          <a:solidFill>
                            <a:srgbClr val="2C3A47"/>
                          </a:solidFill>
                          <a:latin typeface="Segoe UI"/>
                        </a:rPr>
                        <a:t>None</a:t>
                      </a:r>
                    </a:p>
                  </a:txBody>
                  <a:tcPr marL="82296" marR="82296" marT="27432" marB="27432" anchor="ctr">
                    <a:solidFill>
                      <a:srgbClr val="FFFFFF"/>
                    </a:solidFill>
                  </a:tcPr>
                </a:tc>
                <a:tc>
                  <a:txBody>
                    <a:bodyPr wrap="square"/>
                    <a:lstStyle/>
                    <a:p>
                      <a:pPr algn="l"/>
                      <a:r>
                        <a:rPr sz="1050" b="0">
                          <a:solidFill>
                            <a:srgbClr val="2C3A47"/>
                          </a:solidFill>
                          <a:latin typeface="Segoe UI"/>
                        </a:rPr>
                        <a:t>None</a:t>
                      </a:r>
                    </a:p>
                  </a:txBody>
                  <a:tcPr marL="82296" marR="82296" marT="27432" marB="27432" anchor="ctr">
                    <a:solidFill>
                      <a:srgbClr val="FFFFFF"/>
                    </a:solidFill>
                  </a:tcPr>
                </a:tc>
                <a:tc>
                  <a:txBody>
                    <a:bodyPr wrap="square"/>
                    <a:lstStyle/>
                    <a:p>
                      <a:pPr algn="l"/>
                      <a:r>
                        <a:rPr sz="1050" b="1">
                          <a:solidFill>
                            <a:srgbClr val="1D6FA3"/>
                          </a:solidFill>
                          <a:latin typeface="Segoe UI"/>
                        </a:rPr>
                        <a:t>Interval, with regime</a:t>
                      </a:r>
                    </a:p>
                  </a:txBody>
                  <a:tcPr marL="82296" marR="82296" marT="27432" marB="27432" anchor="ctr">
                    <a:solidFill>
                      <a:srgbClr val="FFFFFF"/>
                    </a:solidFill>
                  </a:tcPr>
                </a:tc>
              </a:tr>
            </a:tbl>
          </a:graphicData>
        </a:graphic>
      </p:graphicFrame>
      <p:sp>
        <p:nvSpPr>
          <p:cNvPr id="7" name="TextBox 6"/>
          <p:cNvSpPr txBox="1"/>
          <p:nvPr/>
        </p:nvSpPr>
        <p:spPr>
          <a:xfrm>
            <a:off x="566928" y="4828032"/>
            <a:ext cx="5532120" cy="1371600"/>
          </a:xfrm>
          <a:prstGeom prst="rect">
            <a:avLst/>
          </a:prstGeom>
          <a:noFill/>
        </p:spPr>
        <p:txBody>
          <a:bodyPr wrap="square" anchor="t" lIns="0" rIns="0" tIns="0" bIns="0">
            <a:spAutoFit/>
          </a:bodyPr>
          <a:lstStyle/>
          <a:p>
            <a:pPr algn="l">
              <a:lnSpc>
                <a:spcPct val="124000"/>
              </a:lnSpc>
              <a:spcAft>
                <a:spcPts val="300"/>
              </a:spcAft>
            </a:pPr>
            <a:r>
              <a:rPr sz="1250" b="1">
                <a:solidFill>
                  <a:srgbClr val="10243E"/>
                </a:solidFill>
                <a:latin typeface="Segoe UI"/>
              </a:rPr>
              <a:t>Where the gain comes from</a:t>
            </a:r>
          </a:p>
          <a:p>
            <a:pPr algn="l">
              <a:lnSpc>
                <a:spcPct val="124000"/>
              </a:lnSpc>
              <a:spcAft>
                <a:spcPts val="0"/>
              </a:spcAft>
            </a:pPr>
            <a:r>
              <a:rPr sz="1100" b="0">
                <a:solidFill>
                  <a:srgbClr val="2C3A47"/>
                </a:solidFill>
                <a:latin typeface="Segoe UI"/>
              </a:rPr>
              <a:t>An ablation isolates it. Swapping physics residuals for raw telemetry, with the same network and the same training budget, drops macro F1 from 0.9762 to 0.9165 and raises the false alarm rate from 0.47 % to 14.78 %. The physics layer, not the network, is what earns the result.</a:t>
            </a:r>
          </a:p>
        </p:txBody>
      </p:sp>
      <p:sp>
        <p:nvSpPr>
          <p:cNvPr id="8" name="TextBox 7"/>
          <p:cNvSpPr txBox="1"/>
          <p:nvPr/>
        </p:nvSpPr>
        <p:spPr>
          <a:xfrm>
            <a:off x="6510528" y="4828032"/>
            <a:ext cx="5669280" cy="1371600"/>
          </a:xfrm>
          <a:prstGeom prst="rect">
            <a:avLst/>
          </a:prstGeom>
          <a:noFill/>
        </p:spPr>
        <p:txBody>
          <a:bodyPr wrap="square" anchor="t" lIns="0" rIns="0" tIns="0" bIns="0">
            <a:spAutoFit/>
          </a:bodyPr>
          <a:lstStyle/>
          <a:p>
            <a:pPr algn="l">
              <a:lnSpc>
                <a:spcPct val="124000"/>
              </a:lnSpc>
              <a:spcAft>
                <a:spcPts val="300"/>
              </a:spcAft>
            </a:pPr>
            <a:r>
              <a:rPr sz="1250" b="1">
                <a:solidFill>
                  <a:srgbClr val="10243E"/>
                </a:solidFill>
                <a:latin typeface="Segoe UI"/>
              </a:rPr>
              <a:t>Operational benefit</a:t>
            </a:r>
          </a:p>
          <a:p>
            <a:pPr algn="l">
              <a:lnSpc>
                <a:spcPct val="124000"/>
              </a:lnSpc>
              <a:spcAft>
                <a:spcPts val="0"/>
              </a:spcAft>
            </a:pPr>
            <a:r>
              <a:rPr sz="1100" b="0">
                <a:solidFill>
                  <a:srgbClr val="2C3A47"/>
                </a:solidFill>
                <a:latin typeface="Segoe UI"/>
              </a:rPr>
              <a:t>Detection 25 seconds earlier than an EIS is the difference between a diverted sortie and a lost airframe. A 1.41 % false alarm rate is low enough that crews act on the alarm rather than learn to ignore it, which is the failure mode that retires most monitoring systems.</a:t>
            </a:r>
          </a:p>
        </p:txBody>
      </p:sp>
      <p:sp>
        <p:nvSpPr>
          <p:cNvPr id="9" name="Rectangle 8"/>
          <p:cNvSpPr/>
          <p:nvPr/>
        </p:nvSpPr>
        <p:spPr>
          <a:xfrm>
            <a:off x="566928" y="6327648"/>
            <a:ext cx="11057839" cy="9525"/>
          </a:xfrm>
          <a:prstGeom prst="rect">
            <a:avLst/>
          </a:prstGeom>
          <a:solidFill>
            <a:srgbClr val="D5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419088"/>
            <a:ext cx="8229600" cy="256032"/>
          </a:xfrm>
          <a:prstGeom prst="rect">
            <a:avLst/>
          </a:prstGeom>
          <a:noFill/>
        </p:spPr>
        <p:txBody>
          <a:bodyPr wrap="square" anchor="t" lIns="0" rIns="0" tIns="0" bIns="0">
            <a:spAutoFit/>
          </a:bodyPr>
          <a:lstStyle/>
          <a:p>
            <a:pPr algn="l">
              <a:lnSpc>
                <a:spcPct val="115000"/>
              </a:lnSpc>
              <a:spcAft>
                <a:spcPts val="0"/>
              </a:spcAft>
            </a:pPr>
            <a:r>
              <a:rPr sz="900" b="0">
                <a:solidFill>
                  <a:srgbClr val="6B7A88"/>
                </a:solidFill>
                <a:latin typeface="Segoe UI"/>
              </a:rPr>
              <a:t>EngineTwin  ·  SIH 2026  ·  PS 26054  ·  DRDO  ·  AI-Enabled Real-Time Digital Twin for Aero Piston Engines in MALE UAVs</a:t>
            </a:r>
          </a:p>
        </p:txBody>
      </p:sp>
      <p:sp>
        <p:nvSpPr>
          <p:cNvPr id="11" name="TextBox 10"/>
          <p:cNvSpPr txBox="1"/>
          <p:nvPr/>
        </p:nvSpPr>
        <p:spPr>
          <a:xfrm>
            <a:off x="10984687" y="6419088"/>
            <a:ext cx="640080" cy="256032"/>
          </a:xfrm>
          <a:prstGeom prst="rect">
            <a:avLst/>
          </a:prstGeom>
          <a:noFill/>
        </p:spPr>
        <p:txBody>
          <a:bodyPr wrap="square" anchor="t" lIns="0" rIns="0" tIns="0" bIns="0">
            <a:spAutoFit/>
          </a:bodyPr>
          <a:lstStyle/>
          <a:p>
            <a:pPr algn="r">
              <a:lnSpc>
                <a:spcPct val="115000"/>
              </a:lnSpc>
              <a:spcAft>
                <a:spcPts val="0"/>
              </a:spcAft>
            </a:pPr>
            <a:r>
              <a:rPr sz="900" b="1">
                <a:solidFill>
                  <a:srgbClr val="1D6FA3"/>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D6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310896"/>
          </a:xfrm>
          <a:prstGeom prst="rect">
            <a:avLst/>
          </a:prstGeom>
          <a:noFill/>
        </p:spPr>
        <p:txBody>
          <a:bodyPr wrap="square" anchor="t" lIns="0" rIns="0" tIns="0" bIns="0">
            <a:spAutoFit/>
          </a:bodyPr>
          <a:lstStyle/>
          <a:p>
            <a:pPr algn="l">
              <a:lnSpc>
                <a:spcPct val="115000"/>
              </a:lnSpc>
              <a:spcAft>
                <a:spcPts val="0"/>
              </a:spcAft>
            </a:pPr>
            <a:r>
              <a:rPr sz="1300" b="1">
                <a:solidFill>
                  <a:srgbClr val="1D6FA3"/>
                </a:solidFill>
                <a:latin typeface="Segoe UI"/>
              </a:rPr>
              <a:t>05</a:t>
            </a:r>
          </a:p>
        </p:txBody>
      </p:sp>
      <p:sp>
        <p:nvSpPr>
          <p:cNvPr id="4" name="TextBox 3"/>
          <p:cNvSpPr txBox="1"/>
          <p:nvPr/>
        </p:nvSpPr>
        <p:spPr>
          <a:xfrm>
            <a:off x="566928" y="676656"/>
            <a:ext cx="11057839" cy="566928"/>
          </a:xfrm>
          <a:prstGeom prst="rect">
            <a:avLst/>
          </a:prstGeom>
          <a:noFill/>
        </p:spPr>
        <p:txBody>
          <a:bodyPr wrap="square" anchor="t" lIns="0" rIns="0" tIns="0" bIns="0">
            <a:spAutoFit/>
          </a:bodyPr>
          <a:lstStyle/>
          <a:p>
            <a:pPr algn="l">
              <a:lnSpc>
                <a:spcPct val="115000"/>
              </a:lnSpc>
              <a:spcAft>
                <a:spcPts val="0"/>
              </a:spcAft>
            </a:pPr>
            <a:r>
              <a:rPr sz="3100" b="1">
                <a:solidFill>
                  <a:srgbClr val="10243E"/>
                </a:solidFill>
                <a:latin typeface="Segoe UI"/>
              </a:rPr>
              <a:t>Research and References</a:t>
            </a:r>
          </a:p>
        </p:txBody>
      </p:sp>
      <p:sp>
        <p:nvSpPr>
          <p:cNvPr id="5" name="TextBox 4"/>
          <p:cNvSpPr txBox="1"/>
          <p:nvPr/>
        </p:nvSpPr>
        <p:spPr>
          <a:xfrm>
            <a:off x="566928" y="1243584"/>
            <a:ext cx="11057839" cy="384048"/>
          </a:xfrm>
          <a:prstGeom prst="rect">
            <a:avLst/>
          </a:prstGeom>
          <a:noFill/>
        </p:spPr>
        <p:txBody>
          <a:bodyPr wrap="square" anchor="t" lIns="0" rIns="0" tIns="0" bIns="0">
            <a:spAutoFit/>
          </a:bodyPr>
          <a:lstStyle/>
          <a:p>
            <a:pPr algn="l">
              <a:lnSpc>
                <a:spcPct val="125000"/>
              </a:lnSpc>
              <a:spcAft>
                <a:spcPts val="0"/>
              </a:spcAft>
            </a:pPr>
            <a:r>
              <a:rPr sz="1350" b="0">
                <a:solidFill>
                  <a:srgbClr val="6B7A88"/>
                </a:solidFill>
                <a:latin typeface="Segoe UI"/>
              </a:rPr>
              <a:t>The methods this work builds on, and an honest statement of what our engine data is and is not.</a:t>
            </a:r>
          </a:p>
        </p:txBody>
      </p:sp>
      <p:sp>
        <p:nvSpPr>
          <p:cNvPr id="6" name="TextBox 5"/>
          <p:cNvSpPr txBox="1"/>
          <p:nvPr/>
        </p:nvSpPr>
        <p:spPr>
          <a:xfrm>
            <a:off x="566928" y="1719072"/>
            <a:ext cx="5532120" cy="256032"/>
          </a:xfrm>
          <a:prstGeom prst="rect">
            <a:avLst/>
          </a:prstGeom>
          <a:noFill/>
        </p:spPr>
        <p:txBody>
          <a:bodyPr wrap="square" anchor="t" lIns="0" rIns="0" tIns="0" bIns="0">
            <a:spAutoFit/>
          </a:bodyPr>
          <a:lstStyle/>
          <a:p>
            <a:pPr algn="l">
              <a:lnSpc>
                <a:spcPct val="115000"/>
              </a:lnSpc>
              <a:spcAft>
                <a:spcPts val="0"/>
              </a:spcAft>
            </a:pPr>
            <a:r>
              <a:rPr sz="1300" b="1">
                <a:solidFill>
                  <a:srgbClr val="10243E"/>
                </a:solidFill>
                <a:latin typeface="Segoe UI"/>
              </a:rPr>
              <a:t>Methods</a:t>
            </a:r>
          </a:p>
        </p:txBody>
      </p:sp>
      <p:graphicFrame>
        <p:nvGraphicFramePr>
          <p:cNvPr id="7" name="Table 6"/>
          <p:cNvGraphicFramePr>
            <a:graphicFrameLocks noGrp="1"/>
          </p:cNvGraphicFramePr>
          <p:nvPr/>
        </p:nvGraphicFramePr>
        <p:xfrm>
          <a:off x="566928" y="2011680"/>
          <a:ext cx="5532120" cy="3529584"/>
        </p:xfrm>
        <a:graphic>
          <a:graphicData uri="http://schemas.openxmlformats.org/drawingml/2006/table">
            <a:tbl>
              <a:tblPr firstRow="1">
                <a:tableStyleId>{5C22544A-7EE6-4342-B048-85BDC9FD1C3A}</a:tableStyleId>
              </a:tblPr>
              <a:tblGrid>
                <a:gridCol w="3520440"/>
                <a:gridCol w="2011680"/>
              </a:tblGrid>
              <a:tr h="329184">
                <a:tc>
                  <a:txBody>
                    <a:bodyPr wrap="square"/>
                    <a:lstStyle/>
                    <a:p>
                      <a:pPr algn="l"/>
                      <a:r>
                        <a:rPr sz="950" b="1">
                          <a:solidFill>
                            <a:srgbClr val="10243E"/>
                          </a:solidFill>
                          <a:latin typeface="Segoe UI"/>
                        </a:rPr>
                        <a:t>Source</a:t>
                      </a:r>
                    </a:p>
                  </a:txBody>
                  <a:tcPr marL="82296" marR="82296" marT="27432" marB="27432" anchor="ctr">
                    <a:solidFill>
                      <a:srgbClr val="E8EEF4"/>
                    </a:solidFill>
                  </a:tcPr>
                </a:tc>
                <a:tc>
                  <a:txBody>
                    <a:bodyPr wrap="square"/>
                    <a:lstStyle/>
                    <a:p>
                      <a:pPr algn="l"/>
                      <a:r>
                        <a:rPr sz="950" b="1">
                          <a:solidFill>
                            <a:srgbClr val="10243E"/>
                          </a:solidFill>
                          <a:latin typeface="Segoe UI"/>
                        </a:rPr>
                        <a:t>Used for</a:t>
                      </a:r>
                    </a:p>
                  </a:txBody>
                  <a:tcPr marL="82296" marR="82296" marT="27432" marB="27432" anchor="ctr">
                    <a:solidFill>
                      <a:srgbClr val="E8EEF4"/>
                    </a:solidFill>
                  </a:tcPr>
                </a:tc>
              </a:tr>
              <a:tr h="457200">
                <a:tc>
                  <a:txBody>
                    <a:bodyPr wrap="square"/>
                    <a:lstStyle/>
                    <a:p>
                      <a:pPr algn="l"/>
                      <a:r>
                        <a:rPr sz="880" b="0">
                          <a:solidFill>
                            <a:srgbClr val="2C3A47"/>
                          </a:solidFill>
                          <a:latin typeface="Segoe UI"/>
                        </a:rPr>
                        <a:t>Heywood, Internal Combustion Engine Fundamentals, McGraw-Hill</a:t>
                      </a:r>
                    </a:p>
                  </a:txBody>
                  <a:tcPr marL="82296" marR="82296" marT="27432" marB="27432" anchor="ctr">
                    <a:solidFill>
                      <a:srgbClr val="FFFFFF"/>
                    </a:solidFill>
                  </a:tcPr>
                </a:tc>
                <a:tc>
                  <a:txBody>
                    <a:bodyPr wrap="square"/>
                    <a:lstStyle/>
                    <a:p>
                      <a:pPr algn="l"/>
                      <a:r>
                        <a:rPr sz="880" b="0">
                          <a:solidFill>
                            <a:srgbClr val="2C3A47"/>
                          </a:solidFill>
                          <a:latin typeface="Segoe UI"/>
                        </a:rPr>
                        <a:t>Combustion, friction and thermal sub-models</a:t>
                      </a:r>
                    </a:p>
                  </a:txBody>
                  <a:tcPr marL="82296" marR="82296" marT="27432" marB="27432" anchor="ctr">
                    <a:solidFill>
                      <a:srgbClr val="FFFFFF"/>
                    </a:solidFill>
                  </a:tcPr>
                </a:tc>
              </a:tr>
              <a:tr h="457200">
                <a:tc>
                  <a:txBody>
                    <a:bodyPr wrap="square"/>
                    <a:lstStyle/>
                    <a:p>
                      <a:pPr algn="l"/>
                      <a:r>
                        <a:rPr sz="880" b="0">
                          <a:solidFill>
                            <a:srgbClr val="2C3A47"/>
                          </a:solidFill>
                          <a:latin typeface="Segoe UI"/>
                        </a:rPr>
                        <a:t>Hendricks and Sorenson, Mean Value Modelling of Spark Ignition Engines, SAE 1990</a:t>
                      </a:r>
                    </a:p>
                  </a:txBody>
                  <a:tcPr marL="82296" marR="82296" marT="27432" marB="27432" anchor="ctr">
                    <a:solidFill>
                      <a:srgbClr val="FFFFFF"/>
                    </a:solidFill>
                  </a:tcPr>
                </a:tc>
                <a:tc>
                  <a:txBody>
                    <a:bodyPr wrap="square"/>
                    <a:lstStyle/>
                    <a:p>
                      <a:pPr algn="l"/>
                      <a:r>
                        <a:rPr sz="880" b="0">
                          <a:solidFill>
                            <a:srgbClr val="2C3A47"/>
                          </a:solidFill>
                          <a:latin typeface="Segoe UI"/>
                        </a:rPr>
                        <a:t>The mean value engine model structure</a:t>
                      </a:r>
                    </a:p>
                  </a:txBody>
                  <a:tcPr marL="82296" marR="82296" marT="27432" marB="27432" anchor="ctr">
                    <a:solidFill>
                      <a:srgbClr val="FFFFFF"/>
                    </a:solidFill>
                  </a:tcPr>
                </a:tc>
              </a:tr>
              <a:tr h="457200">
                <a:tc>
                  <a:txBody>
                    <a:bodyPr wrap="square"/>
                    <a:lstStyle/>
                    <a:p>
                      <a:pPr algn="l"/>
                      <a:r>
                        <a:rPr sz="880" b="0">
                          <a:solidFill>
                            <a:srgbClr val="2C3A47"/>
                          </a:solidFill>
                          <a:latin typeface="Segoe UI"/>
                        </a:rPr>
                        <a:t>Gagg and Farrar altitude power relation</a:t>
                      </a:r>
                    </a:p>
                  </a:txBody>
                  <a:tcPr marL="82296" marR="82296" marT="27432" marB="27432" anchor="ctr">
                    <a:solidFill>
                      <a:srgbClr val="FFFFFF"/>
                    </a:solidFill>
                  </a:tcPr>
                </a:tc>
                <a:tc>
                  <a:txBody>
                    <a:bodyPr wrap="square"/>
                    <a:lstStyle/>
                    <a:p>
                      <a:pPr algn="l"/>
                      <a:r>
                        <a:rPr sz="880" b="0">
                          <a:solidFill>
                            <a:srgbClr val="2C3A47"/>
                          </a:solidFill>
                          <a:latin typeface="Segoe UI"/>
                        </a:rPr>
                        <a:t>Naturally aspirated power lapse with density</a:t>
                      </a:r>
                    </a:p>
                  </a:txBody>
                  <a:tcPr marL="82296" marR="82296" marT="27432" marB="27432" anchor="ctr">
                    <a:solidFill>
                      <a:srgbClr val="FFFFFF"/>
                    </a:solidFill>
                  </a:tcPr>
                </a:tc>
              </a:tr>
              <a:tr h="457200">
                <a:tc>
                  <a:txBody>
                    <a:bodyPr wrap="square"/>
                    <a:lstStyle/>
                    <a:p>
                      <a:pPr algn="l"/>
                      <a:r>
                        <a:rPr sz="880" b="0">
                          <a:solidFill>
                            <a:srgbClr val="2C3A47"/>
                          </a:solidFill>
                          <a:latin typeface="Segoe UI"/>
                        </a:rPr>
                        <a:t>ICAO Standard Atmosphere</a:t>
                      </a:r>
                    </a:p>
                  </a:txBody>
                  <a:tcPr marL="82296" marR="82296" marT="27432" marB="27432" anchor="ctr">
                    <a:solidFill>
                      <a:srgbClr val="FFFFFF"/>
                    </a:solidFill>
                  </a:tcPr>
                </a:tc>
                <a:tc>
                  <a:txBody>
                    <a:bodyPr wrap="square"/>
                    <a:lstStyle/>
                    <a:p>
                      <a:pPr algn="l"/>
                      <a:r>
                        <a:rPr sz="880" b="0">
                          <a:solidFill>
                            <a:srgbClr val="2C3A47"/>
                          </a:solidFill>
                          <a:latin typeface="Segoe UI"/>
                        </a:rPr>
                        <a:t>Density, pressure and temperature with altitude</a:t>
                      </a:r>
                    </a:p>
                  </a:txBody>
                  <a:tcPr marL="82296" marR="82296" marT="27432" marB="27432" anchor="ctr">
                    <a:solidFill>
                      <a:srgbClr val="FFFFFF"/>
                    </a:solidFill>
                  </a:tcPr>
                </a:tc>
              </a:tr>
              <a:tr h="457200">
                <a:tc>
                  <a:txBody>
                    <a:bodyPr wrap="square"/>
                    <a:lstStyle/>
                    <a:p>
                      <a:pPr algn="l"/>
                      <a:r>
                        <a:rPr sz="880" b="0">
                          <a:solidFill>
                            <a:srgbClr val="2C3A47"/>
                          </a:solidFill>
                          <a:latin typeface="Segoe UI"/>
                        </a:rPr>
                        <a:t>Sakurada and Yairi, Anomaly Detection Using Autoencoders, MLSDA 2014</a:t>
                      </a:r>
                    </a:p>
                  </a:txBody>
                  <a:tcPr marL="82296" marR="82296" marT="27432" marB="27432" anchor="ctr">
                    <a:solidFill>
                      <a:srgbClr val="FFFFFF"/>
                    </a:solidFill>
                  </a:tcPr>
                </a:tc>
                <a:tc>
                  <a:txBody>
                    <a:bodyPr wrap="square"/>
                    <a:lstStyle/>
                    <a:p>
                      <a:pPr algn="l"/>
                      <a:r>
                        <a:rPr sz="880" b="0">
                          <a:solidFill>
                            <a:srgbClr val="2C3A47"/>
                          </a:solidFill>
                          <a:latin typeface="Segoe UI"/>
                        </a:rPr>
                        <a:t>Healthy-only autoencoder as the anomaly gate</a:t>
                      </a:r>
                    </a:p>
                  </a:txBody>
                  <a:tcPr marL="82296" marR="82296" marT="27432" marB="27432" anchor="ctr">
                    <a:solidFill>
                      <a:srgbClr val="FFFFFF"/>
                    </a:solidFill>
                  </a:tcPr>
                </a:tc>
              </a:tr>
              <a:tr h="457200">
                <a:tc>
                  <a:txBody>
                    <a:bodyPr wrap="square"/>
                    <a:lstStyle/>
                    <a:p>
                      <a:pPr algn="l"/>
                      <a:r>
                        <a:rPr sz="880" b="0">
                          <a:solidFill>
                            <a:srgbClr val="2C3A47"/>
                          </a:solidFill>
                          <a:latin typeface="Segoe UI"/>
                        </a:rPr>
                        <a:t>Guo et al., On Calibration of Modern Neural Networks, ICML 2017</a:t>
                      </a:r>
                    </a:p>
                  </a:txBody>
                  <a:tcPr marL="82296" marR="82296" marT="27432" marB="27432" anchor="ctr">
                    <a:solidFill>
                      <a:srgbClr val="FFFFFF"/>
                    </a:solidFill>
                  </a:tcPr>
                </a:tc>
                <a:tc>
                  <a:txBody>
                    <a:bodyPr wrap="square"/>
                    <a:lstStyle/>
                    <a:p>
                      <a:pPr algn="l"/>
                      <a:r>
                        <a:rPr sz="880" b="0">
                          <a:solidFill>
                            <a:srgbClr val="2C3A47"/>
                          </a:solidFill>
                          <a:latin typeface="Segoe UI"/>
                        </a:rPr>
                        <a:t>Temperature scaling so confidence is honest</a:t>
                      </a:r>
                    </a:p>
                  </a:txBody>
                  <a:tcPr marL="82296" marR="82296" marT="27432" marB="27432" anchor="ctr">
                    <a:solidFill>
                      <a:srgbClr val="FFFFFF"/>
                    </a:solidFill>
                  </a:tcPr>
                </a:tc>
              </a:tr>
              <a:tr h="457200">
                <a:tc>
                  <a:txBody>
                    <a:bodyPr wrap="square"/>
                    <a:lstStyle/>
                    <a:p>
                      <a:pPr algn="l"/>
                      <a:r>
                        <a:rPr sz="880" b="0">
                          <a:solidFill>
                            <a:srgbClr val="2C3A47"/>
                          </a:solidFill>
                          <a:latin typeface="Segoe UI"/>
                        </a:rPr>
                        <a:t>Shrikumar et al., Learning Important Features Through Propagating Activation Differences, ICML 2017</a:t>
                      </a:r>
                    </a:p>
                  </a:txBody>
                  <a:tcPr marL="82296" marR="82296" marT="27432" marB="27432" anchor="ctr">
                    <a:solidFill>
                      <a:srgbClr val="FFFFFF"/>
                    </a:solidFill>
                  </a:tcPr>
                </a:tc>
                <a:tc>
                  <a:txBody>
                    <a:bodyPr wrap="square"/>
                    <a:lstStyle/>
                    <a:p>
                      <a:pPr algn="l"/>
                      <a:r>
                        <a:rPr sz="880" b="0">
                          <a:solidFill>
                            <a:srgbClr val="2C3A47"/>
                          </a:solidFill>
                          <a:latin typeface="Segoe UI"/>
                        </a:rPr>
                        <a:t>Gradient x input attribution</a:t>
                      </a:r>
                    </a:p>
                  </a:txBody>
                  <a:tcPr marL="82296" marR="82296" marT="27432" marB="27432" anchor="ctr">
                    <a:solidFill>
                      <a:srgbClr val="FFFFFF"/>
                    </a:solidFill>
                  </a:tcPr>
                </a:tc>
              </a:tr>
            </a:tbl>
          </a:graphicData>
        </a:graphic>
      </p:graphicFrame>
      <p:sp>
        <p:nvSpPr>
          <p:cNvPr id="8" name="TextBox 7"/>
          <p:cNvSpPr txBox="1"/>
          <p:nvPr/>
        </p:nvSpPr>
        <p:spPr>
          <a:xfrm>
            <a:off x="6510528" y="1719072"/>
            <a:ext cx="5669280" cy="256032"/>
          </a:xfrm>
          <a:prstGeom prst="rect">
            <a:avLst/>
          </a:prstGeom>
          <a:noFill/>
        </p:spPr>
        <p:txBody>
          <a:bodyPr wrap="square" anchor="t" lIns="0" rIns="0" tIns="0" bIns="0">
            <a:spAutoFit/>
          </a:bodyPr>
          <a:lstStyle/>
          <a:p>
            <a:pPr algn="l">
              <a:lnSpc>
                <a:spcPct val="115000"/>
              </a:lnSpc>
              <a:spcAft>
                <a:spcPts val="0"/>
              </a:spcAft>
            </a:pPr>
            <a:r>
              <a:rPr sz="1300" b="1">
                <a:solidFill>
                  <a:srgbClr val="10243E"/>
                </a:solidFill>
                <a:latin typeface="Segoe UI"/>
              </a:rPr>
              <a:t>Engine data provenance</a:t>
            </a:r>
          </a:p>
        </p:txBody>
      </p:sp>
      <p:graphicFrame>
        <p:nvGraphicFramePr>
          <p:cNvPr id="9" name="Table 8"/>
          <p:cNvGraphicFramePr>
            <a:graphicFrameLocks noGrp="1"/>
          </p:cNvGraphicFramePr>
          <p:nvPr/>
        </p:nvGraphicFramePr>
        <p:xfrm>
          <a:off x="6510528" y="2011680"/>
          <a:ext cx="5669280" cy="2139696"/>
        </p:xfrm>
        <a:graphic>
          <a:graphicData uri="http://schemas.openxmlformats.org/drawingml/2006/table">
            <a:tbl>
              <a:tblPr firstRow="1">
                <a:tableStyleId>{5C22544A-7EE6-4342-B048-85BDC9FD1C3A}</a:tableStyleId>
              </a:tblPr>
              <a:tblGrid>
                <a:gridCol w="2926080"/>
                <a:gridCol w="2743200"/>
              </a:tblGrid>
              <a:tr h="329184">
                <a:tc>
                  <a:txBody>
                    <a:bodyPr wrap="square"/>
                    <a:lstStyle/>
                    <a:p>
                      <a:pPr algn="l"/>
                      <a:r>
                        <a:rPr sz="950" b="1">
                          <a:solidFill>
                            <a:srgbClr val="10243E"/>
                          </a:solidFill>
                          <a:latin typeface="Segoe UI"/>
                        </a:rPr>
                        <a:t>Category</a:t>
                      </a:r>
                    </a:p>
                  </a:txBody>
                  <a:tcPr marL="82296" marR="82296" marT="27432" marB="27432" anchor="ctr">
                    <a:solidFill>
                      <a:srgbClr val="E8EEF4"/>
                    </a:solidFill>
                  </a:tcPr>
                </a:tc>
                <a:tc>
                  <a:txBody>
                    <a:bodyPr wrap="square"/>
                    <a:lstStyle/>
                    <a:p>
                      <a:pPr algn="l"/>
                      <a:r>
                        <a:rPr sz="950" b="1">
                          <a:solidFill>
                            <a:srgbClr val="10243E"/>
                          </a:solidFill>
                          <a:latin typeface="Segoe UI"/>
                        </a:rPr>
                        <a:t>Basis</a:t>
                      </a:r>
                    </a:p>
                  </a:txBody>
                  <a:tcPr marL="82296" marR="82296" marT="27432" marB="27432" anchor="ctr">
                    <a:solidFill>
                      <a:srgbClr val="E8EEF4"/>
                    </a:solidFill>
                  </a:tcPr>
                </a:tc>
              </a:tr>
              <a:tr h="603504">
                <a:tc>
                  <a:txBody>
                    <a:bodyPr wrap="square"/>
                    <a:lstStyle/>
                    <a:p>
                      <a:pPr algn="l"/>
                      <a:r>
                        <a:rPr sz="950" b="0">
                          <a:solidFill>
                            <a:srgbClr val="2C3A47"/>
                          </a:solidFill>
                          <a:latin typeface="Segoe UI"/>
                        </a:rPr>
                        <a:t>Displacement, cylinders, layout, rated power and speed, compression ratio</a:t>
                      </a:r>
                    </a:p>
                  </a:txBody>
                  <a:tcPr marL="82296" marR="82296" marT="27432" marB="27432" anchor="ctr">
                    <a:solidFill>
                      <a:srgbClr val="FFFFFF"/>
                    </a:solidFill>
                  </a:tcPr>
                </a:tc>
                <a:tc>
                  <a:txBody>
                    <a:bodyPr wrap="square"/>
                    <a:lstStyle/>
                    <a:p>
                      <a:pPr algn="l"/>
                      <a:r>
                        <a:rPr sz="950" b="0">
                          <a:solidFill>
                            <a:srgbClr val="2C3A47"/>
                          </a:solidFill>
                          <a:latin typeface="Segoe UI"/>
                        </a:rPr>
                        <a:t>Manufacturer published specification</a:t>
                      </a:r>
                    </a:p>
                  </a:txBody>
                  <a:tcPr marL="82296" marR="82296" marT="27432" marB="27432" anchor="ctr">
                    <a:solidFill>
                      <a:srgbClr val="FFFFFF"/>
                    </a:solidFill>
                  </a:tcPr>
                </a:tc>
              </a:tr>
              <a:tr h="603504">
                <a:tc>
                  <a:txBody>
                    <a:bodyPr wrap="square"/>
                    <a:lstStyle/>
                    <a:p>
                      <a:pPr algn="l"/>
                      <a:r>
                        <a:rPr sz="950" b="0">
                          <a:solidFill>
                            <a:srgbClr val="2C3A47"/>
                          </a:solidFill>
                          <a:latin typeface="Segoe UI"/>
                        </a:rPr>
                        <a:t>Naturally aspirated altitude power curve</a:t>
                      </a:r>
                    </a:p>
                  </a:txBody>
                  <a:tcPr marL="82296" marR="82296" marT="27432" marB="27432" anchor="ctr">
                    <a:solidFill>
                      <a:srgbClr val="FFFFFF"/>
                    </a:solidFill>
                  </a:tcPr>
                </a:tc>
                <a:tc>
                  <a:txBody>
                    <a:bodyPr wrap="square"/>
                    <a:lstStyle/>
                    <a:p>
                      <a:pPr algn="l"/>
                      <a:r>
                        <a:rPr sz="950" b="0">
                          <a:solidFill>
                            <a:srgbClr val="2C3A47"/>
                          </a:solidFill>
                          <a:latin typeface="Segoe UI"/>
                        </a:rPr>
                        <a:t>Computed from the Gagg-Farrar relation against ISA density</a:t>
                      </a:r>
                    </a:p>
                  </a:txBody>
                  <a:tcPr marL="82296" marR="82296" marT="27432" marB="27432" anchor="ctr">
                    <a:solidFill>
                      <a:srgbClr val="FFFFFF"/>
                    </a:solidFill>
                  </a:tcPr>
                </a:tc>
              </a:tr>
              <a:tr h="603504">
                <a:tc>
                  <a:txBody>
                    <a:bodyPr wrap="square"/>
                    <a:lstStyle/>
                    <a:p>
                      <a:pPr algn="l"/>
                      <a:r>
                        <a:rPr sz="950" b="0">
                          <a:solidFill>
                            <a:srgbClr val="2C3A47"/>
                          </a:solidFill>
                          <a:latin typeface="Segoe UI"/>
                        </a:rPr>
                        <a:t>Operating limits, sensor characteristics, turbocharged power curve</a:t>
                      </a:r>
                    </a:p>
                  </a:txBody>
                  <a:tcPr marL="82296" marR="82296" marT="27432" marB="27432" anchor="ctr">
                    <a:solidFill>
                      <a:srgbClr val="FFFFFF"/>
                    </a:solidFill>
                  </a:tcPr>
                </a:tc>
                <a:tc>
                  <a:txBody>
                    <a:bodyPr wrap="square"/>
                    <a:lstStyle/>
                    <a:p>
                      <a:pPr algn="l"/>
                      <a:r>
                        <a:rPr sz="950" b="0">
                          <a:solidFill>
                            <a:srgbClr val="2C3A47"/>
                          </a:solidFill>
                          <a:latin typeface="Segoe UI"/>
                        </a:rPr>
                        <a:t>Modelled to be internally consistent with the rated point</a:t>
                      </a:r>
                    </a:p>
                  </a:txBody>
                  <a:tcPr marL="82296" marR="82296" marT="27432" marB="27432" anchor="ctr">
                    <a:solidFill>
                      <a:srgbClr val="FFFFFF"/>
                    </a:solidFill>
                  </a:tcPr>
                </a:tc>
              </a:tr>
            </a:tbl>
          </a:graphicData>
        </a:graphic>
      </p:graphicFrame>
      <p:sp>
        <p:nvSpPr>
          <p:cNvPr id="10" name="TextBox 9"/>
          <p:cNvSpPr txBox="1"/>
          <p:nvPr/>
        </p:nvSpPr>
        <p:spPr>
          <a:xfrm>
            <a:off x="6510528" y="4133087"/>
            <a:ext cx="5669280" cy="1005840"/>
          </a:xfrm>
          <a:prstGeom prst="rect">
            <a:avLst/>
          </a:prstGeom>
          <a:noFill/>
        </p:spPr>
        <p:txBody>
          <a:bodyPr wrap="square" anchor="t" lIns="0" rIns="0" tIns="0" bIns="0">
            <a:spAutoFit/>
          </a:bodyPr>
          <a:lstStyle/>
          <a:p>
            <a:pPr algn="l">
              <a:lnSpc>
                <a:spcPct val="124000"/>
              </a:lnSpc>
              <a:spcAft>
                <a:spcPts val="0"/>
              </a:spcAft>
            </a:pPr>
            <a:r>
              <a:rPr sz="1000" b="0">
                <a:solidFill>
                  <a:srgbClr val="B15C11"/>
                </a:solidFill>
                <a:latin typeface="Segoe UI"/>
              </a:rPr>
              <a:t>Every engine config in the repository carries this classification per field, so a reviewer can see which figures are transcribed and which are modelled without having to ask.</a:t>
            </a:r>
          </a:p>
        </p:txBody>
      </p:sp>
      <p:sp>
        <p:nvSpPr>
          <p:cNvPr id="11" name="TextBox 10"/>
          <p:cNvSpPr txBox="1"/>
          <p:nvPr/>
        </p:nvSpPr>
        <p:spPr>
          <a:xfrm>
            <a:off x="566928" y="5413248"/>
            <a:ext cx="11057839" cy="822960"/>
          </a:xfrm>
          <a:prstGeom prst="rect">
            <a:avLst/>
          </a:prstGeom>
          <a:noFill/>
        </p:spPr>
        <p:txBody>
          <a:bodyPr wrap="square" anchor="t" lIns="0" rIns="0" tIns="0" bIns="0">
            <a:spAutoFit/>
          </a:bodyPr>
          <a:lstStyle/>
          <a:p>
            <a:pPr algn="l">
              <a:lnSpc>
                <a:spcPct val="124000"/>
              </a:lnSpc>
              <a:spcAft>
                <a:spcPts val="300"/>
              </a:spcAft>
            </a:pPr>
            <a:r>
              <a:rPr sz="1250" b="1">
                <a:solidFill>
                  <a:srgbClr val="10243E"/>
                </a:solidFill>
                <a:latin typeface="Segoe UI"/>
              </a:rPr>
              <a:t>Reproducibility</a:t>
            </a:r>
          </a:p>
          <a:p>
            <a:pPr algn="l">
              <a:lnSpc>
                <a:spcPct val="124000"/>
              </a:lnSpc>
              <a:spcAft>
                <a:spcPts val="0"/>
              </a:spcAft>
            </a:pPr>
            <a:r>
              <a:rPr sz="1100" b="0">
                <a:solidFill>
                  <a:srgbClr val="2C3A47"/>
                </a:solidFill>
                <a:latin typeface="Segoe UI"/>
              </a:rPr>
              <a:t>Every number on slide 4 is printed by validation/benchmark.py and validation/ablation.py in this repository, against a held-out test set. Both can be re-run from a clean checkout to reproduce the table.</a:t>
            </a:r>
          </a:p>
        </p:txBody>
      </p:sp>
      <p:sp>
        <p:nvSpPr>
          <p:cNvPr id="12" name="Rectangle 11"/>
          <p:cNvSpPr/>
          <p:nvPr/>
        </p:nvSpPr>
        <p:spPr>
          <a:xfrm>
            <a:off x="566928" y="6327648"/>
            <a:ext cx="11057839" cy="9525"/>
          </a:xfrm>
          <a:prstGeom prst="rect">
            <a:avLst/>
          </a:prstGeom>
          <a:solidFill>
            <a:srgbClr val="D5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19088"/>
            <a:ext cx="8229600" cy="256032"/>
          </a:xfrm>
          <a:prstGeom prst="rect">
            <a:avLst/>
          </a:prstGeom>
          <a:noFill/>
        </p:spPr>
        <p:txBody>
          <a:bodyPr wrap="square" anchor="t" lIns="0" rIns="0" tIns="0" bIns="0">
            <a:spAutoFit/>
          </a:bodyPr>
          <a:lstStyle/>
          <a:p>
            <a:pPr algn="l">
              <a:lnSpc>
                <a:spcPct val="115000"/>
              </a:lnSpc>
              <a:spcAft>
                <a:spcPts val="0"/>
              </a:spcAft>
            </a:pPr>
            <a:r>
              <a:rPr sz="900" b="0">
                <a:solidFill>
                  <a:srgbClr val="6B7A88"/>
                </a:solidFill>
                <a:latin typeface="Segoe UI"/>
              </a:rPr>
              <a:t>EngineTwin  ·  SIH 2026  ·  PS 26054  ·  DRDO  ·  AI-Enabled Real-Time Digital Twin for Aero Piston Engines in MALE UAVs</a:t>
            </a:r>
          </a:p>
        </p:txBody>
      </p:sp>
      <p:sp>
        <p:nvSpPr>
          <p:cNvPr id="14" name="TextBox 13"/>
          <p:cNvSpPr txBox="1"/>
          <p:nvPr/>
        </p:nvSpPr>
        <p:spPr>
          <a:xfrm>
            <a:off x="10984687" y="6419088"/>
            <a:ext cx="640080" cy="256032"/>
          </a:xfrm>
          <a:prstGeom prst="rect">
            <a:avLst/>
          </a:prstGeom>
          <a:noFill/>
        </p:spPr>
        <p:txBody>
          <a:bodyPr wrap="square" anchor="t" lIns="0" rIns="0" tIns="0" bIns="0">
            <a:spAutoFit/>
          </a:bodyPr>
          <a:lstStyle/>
          <a:p>
            <a:pPr algn="r">
              <a:lnSpc>
                <a:spcPct val="115000"/>
              </a:lnSpc>
              <a:spcAft>
                <a:spcPts val="0"/>
              </a:spcAft>
            </a:pPr>
            <a:r>
              <a:rPr sz="900" b="1">
                <a:solidFill>
                  <a:srgbClr val="1D6FA3"/>
                </a:solidFill>
                <a:latin typeface="Segoe U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